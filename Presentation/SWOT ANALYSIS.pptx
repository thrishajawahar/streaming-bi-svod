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7" r:id="rId1"/>
  </p:sldMasterIdLst>
  <p:notesMasterIdLst>
    <p:notesMasterId r:id="rId9"/>
  </p:notesMasterIdLst>
  <p:sldIdLst>
    <p:sldId id="256" r:id="rId2"/>
    <p:sldId id="307" r:id="rId3"/>
    <p:sldId id="309" r:id="rId4"/>
    <p:sldId id="311" r:id="rId5"/>
    <p:sldId id="313" r:id="rId6"/>
    <p:sldId id="315" r:id="rId7"/>
    <p:sldId id="300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35B054-F025-4C35-91DF-6F7DEA15919D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8D9AE9-EBBB-48A8-91AB-38BA8DA089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52230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>
          <a:extLst>
            <a:ext uri="{FF2B5EF4-FFF2-40B4-BE49-F238E27FC236}">
              <a16:creationId xmlns:a16="http://schemas.microsoft.com/office/drawing/2014/main" id="{B7CE7448-CD6F-558F-28FB-AD17FE3202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2ca35eb75d8_0_458:notes">
            <a:extLst>
              <a:ext uri="{FF2B5EF4-FFF2-40B4-BE49-F238E27FC236}">
                <a16:creationId xmlns:a16="http://schemas.microsoft.com/office/drawing/2014/main" id="{7DE10B8A-88A2-C1E3-DB28-80F78CC3E18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2ca35eb75d8_0_458:notes">
            <a:extLst>
              <a:ext uri="{FF2B5EF4-FFF2-40B4-BE49-F238E27FC236}">
                <a16:creationId xmlns:a16="http://schemas.microsoft.com/office/drawing/2014/main" id="{C48D3D32-5724-BFE1-E75E-22FB97EF00F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98061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>
          <a:extLst>
            <a:ext uri="{FF2B5EF4-FFF2-40B4-BE49-F238E27FC236}">
              <a16:creationId xmlns:a16="http://schemas.microsoft.com/office/drawing/2014/main" id="{0A79E22E-8FF8-63C0-F4FD-E68F07B3D2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2ca35eb75d8_0_458:notes">
            <a:extLst>
              <a:ext uri="{FF2B5EF4-FFF2-40B4-BE49-F238E27FC236}">
                <a16:creationId xmlns:a16="http://schemas.microsoft.com/office/drawing/2014/main" id="{1FA9D9B5-4D63-C216-44A8-AA28670A37A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2ca35eb75d8_0_458:notes">
            <a:extLst>
              <a:ext uri="{FF2B5EF4-FFF2-40B4-BE49-F238E27FC236}">
                <a16:creationId xmlns:a16="http://schemas.microsoft.com/office/drawing/2014/main" id="{9453CE79-C124-24B1-A0F8-AB891ACBD3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83183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>
          <a:extLst>
            <a:ext uri="{FF2B5EF4-FFF2-40B4-BE49-F238E27FC236}">
              <a16:creationId xmlns:a16="http://schemas.microsoft.com/office/drawing/2014/main" id="{D84C4648-0223-7BA2-E45B-E3A1F52044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2ca35eb75d8_0_458:notes">
            <a:extLst>
              <a:ext uri="{FF2B5EF4-FFF2-40B4-BE49-F238E27FC236}">
                <a16:creationId xmlns:a16="http://schemas.microsoft.com/office/drawing/2014/main" id="{A471EE18-1D98-A83E-ADBE-66B307176DE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2ca35eb75d8_0_458:notes">
            <a:extLst>
              <a:ext uri="{FF2B5EF4-FFF2-40B4-BE49-F238E27FC236}">
                <a16:creationId xmlns:a16="http://schemas.microsoft.com/office/drawing/2014/main" id="{6BBE1C7E-54F0-FC91-F502-32D248CCDF5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92445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>
          <a:extLst>
            <a:ext uri="{FF2B5EF4-FFF2-40B4-BE49-F238E27FC236}">
              <a16:creationId xmlns:a16="http://schemas.microsoft.com/office/drawing/2014/main" id="{90D134CB-753E-7D37-AB1A-48D57001B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2ca35eb75d8_0_458:notes">
            <a:extLst>
              <a:ext uri="{FF2B5EF4-FFF2-40B4-BE49-F238E27FC236}">
                <a16:creationId xmlns:a16="http://schemas.microsoft.com/office/drawing/2014/main" id="{AD61E874-6670-7879-B464-2B3F798D178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2ca35eb75d8_0_458:notes">
            <a:extLst>
              <a:ext uri="{FF2B5EF4-FFF2-40B4-BE49-F238E27FC236}">
                <a16:creationId xmlns:a16="http://schemas.microsoft.com/office/drawing/2014/main" id="{B5980E61-B6B8-F82B-CF11-4BC43DE6864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197464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>
          <a:extLst>
            <a:ext uri="{FF2B5EF4-FFF2-40B4-BE49-F238E27FC236}">
              <a16:creationId xmlns:a16="http://schemas.microsoft.com/office/drawing/2014/main" id="{7D617DD5-B588-2535-7BEC-4CDA1EE22C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2ca35eb75d8_0_458:notes">
            <a:extLst>
              <a:ext uri="{FF2B5EF4-FFF2-40B4-BE49-F238E27FC236}">
                <a16:creationId xmlns:a16="http://schemas.microsoft.com/office/drawing/2014/main" id="{EC773B6F-0194-3184-34E3-6C7325ADDDD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2ca35eb75d8_0_458:notes">
            <a:extLst>
              <a:ext uri="{FF2B5EF4-FFF2-40B4-BE49-F238E27FC236}">
                <a16:creationId xmlns:a16="http://schemas.microsoft.com/office/drawing/2014/main" id="{918C266A-5361-23C3-33C2-4C0524A4259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0011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>
          <a:extLst>
            <a:ext uri="{FF2B5EF4-FFF2-40B4-BE49-F238E27FC236}">
              <a16:creationId xmlns:a16="http://schemas.microsoft.com/office/drawing/2014/main" id="{5B2A726A-4074-1069-6437-8EE98EE055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2ca35eb75d8_0_458:notes">
            <a:extLst>
              <a:ext uri="{FF2B5EF4-FFF2-40B4-BE49-F238E27FC236}">
                <a16:creationId xmlns:a16="http://schemas.microsoft.com/office/drawing/2014/main" id="{0A66BD82-DF43-2156-63CA-B3A071FF481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2ca35eb75d8_0_458:notes">
            <a:extLst>
              <a:ext uri="{FF2B5EF4-FFF2-40B4-BE49-F238E27FC236}">
                <a16:creationId xmlns:a16="http://schemas.microsoft.com/office/drawing/2014/main" id="{862E75CA-D78F-8729-4B22-6B50D69A10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indent="-171450"/>
            <a:r>
              <a:rPr lang="en-US"/>
              <a:t>Which force is </a:t>
            </a:r>
            <a:r>
              <a:rPr lang="en-US" b="1"/>
              <a:t>strongest</a:t>
            </a:r>
            <a:r>
              <a:rPr lang="en-US"/>
              <a:t> in streaming today?</a:t>
            </a:r>
          </a:p>
          <a:p>
            <a:pPr marL="171450" indent="-171450"/>
            <a:r>
              <a:rPr lang="en-US" dirty="0"/>
              <a:t>Which force can data help us observe indirectly?</a:t>
            </a:r>
          </a:p>
          <a:p>
            <a:pPr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77341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64027-59FE-4647-9DF8-B8772C91F560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B4B1F056-BB73-4148-BFFA-8D7737A3BE98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19804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64027-59FE-4647-9DF8-B8772C91F560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1F056-BB73-4148-BFFA-8D7737A3BE98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052278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64027-59FE-4647-9DF8-B8772C91F560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1F056-BB73-4148-BFFA-8D7737A3BE98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348813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64027-59FE-4647-9DF8-B8772C91F560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1F056-BB73-4148-BFFA-8D7737A3BE98}" type="slidenum">
              <a:rPr lang="en-US" smtClean="0"/>
              <a:t>‹#›</a:t>
            </a:fld>
            <a:endParaRPr lang="en-US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598286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64027-59FE-4647-9DF8-B8772C91F560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1F056-BB73-4148-BFFA-8D7737A3BE98}" type="slidenum">
              <a:rPr lang="en-US" smtClean="0"/>
              <a:t>‹#›</a:t>
            </a:fld>
            <a:endParaRPr lang="en-US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129440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64027-59FE-4647-9DF8-B8772C91F560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1F056-BB73-4148-BFFA-8D7737A3BE98}" type="slidenum">
              <a:rPr lang="en-US" smtClean="0"/>
              <a:t>‹#›</a:t>
            </a:fld>
            <a:endParaRPr lang="en-US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345927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64027-59FE-4647-9DF8-B8772C91F560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1F056-BB73-4148-BFFA-8D7737A3BE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66066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64027-59FE-4647-9DF8-B8772C91F560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1F056-BB73-4148-BFFA-8D7737A3BE98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299495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6EB64027-59FE-4647-9DF8-B8772C91F560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1F056-BB73-4148-BFFA-8D7737A3BE98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2267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64027-59FE-4647-9DF8-B8772C91F560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1F056-BB73-4148-BFFA-8D7737A3BE98}" type="slidenum">
              <a:rPr lang="en-US" smtClean="0"/>
              <a:t>‹#›</a:t>
            </a:fld>
            <a:endParaRPr lang="en-US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96773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64027-59FE-4647-9DF8-B8772C91F560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1F056-BB73-4148-BFFA-8D7737A3BE98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456594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eadline + + Subhead + copy">
  <p:cSld name="Headline + + Subhead + copy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5"/>
          <p:cNvSpPr txBox="1">
            <a:spLocks noGrp="1"/>
          </p:cNvSpPr>
          <p:nvPr>
            <p:ph type="subTitle" idx="1"/>
          </p:nvPr>
        </p:nvSpPr>
        <p:spPr>
          <a:xfrm>
            <a:off x="612800" y="2323417"/>
            <a:ext cx="4792800" cy="44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370E7"/>
              </a:buClr>
              <a:buSzPts val="1500"/>
              <a:buFont typeface="Inter Tight"/>
              <a:buNone/>
              <a:defRPr sz="2000" b="1">
                <a:solidFill>
                  <a:srgbClr val="5370E7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Font typeface="Helvetica Neue"/>
              <a:buNone/>
              <a:defRPr sz="2000" b="1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Font typeface="Helvetica Neue"/>
              <a:buNone/>
              <a:defRPr sz="2000" b="1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Font typeface="Helvetica Neue"/>
              <a:buNone/>
              <a:defRPr sz="2000" b="1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Font typeface="Helvetica Neue"/>
              <a:buNone/>
              <a:defRPr sz="2000" b="1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Font typeface="Helvetica Neue"/>
              <a:buNone/>
              <a:defRPr sz="2000" b="1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Font typeface="Helvetica Neue"/>
              <a:buNone/>
              <a:defRPr sz="2000" b="1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Font typeface="Helvetica Neue"/>
              <a:buNone/>
              <a:defRPr sz="2000" b="1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Font typeface="Helvetica Neue"/>
              <a:buNone/>
              <a:defRPr sz="2000" b="1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40" name="Google Shape;40;p15"/>
          <p:cNvSpPr txBox="1">
            <a:spLocks noGrp="1"/>
          </p:cNvSpPr>
          <p:nvPr>
            <p:ph type="title"/>
          </p:nvPr>
        </p:nvSpPr>
        <p:spPr>
          <a:xfrm>
            <a:off x="612800" y="589967"/>
            <a:ext cx="6108800" cy="14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3500"/>
              <a:buFont typeface="Inter Tight"/>
              <a:buNone/>
              <a:defRPr sz="4667"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400"/>
              <a:buFont typeface="Inter Tight"/>
              <a:buNone/>
              <a:defRPr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400"/>
              <a:buFont typeface="Inter Tight"/>
              <a:buNone/>
              <a:defRPr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400"/>
              <a:buFont typeface="Inter Tight"/>
              <a:buNone/>
              <a:defRPr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400"/>
              <a:buFont typeface="Inter Tight"/>
              <a:buNone/>
              <a:defRPr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400"/>
              <a:buFont typeface="Inter Tight"/>
              <a:buNone/>
              <a:defRPr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400"/>
              <a:buFont typeface="Inter Tight"/>
              <a:buNone/>
              <a:defRPr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400"/>
              <a:buFont typeface="Inter Tight"/>
              <a:buNone/>
              <a:defRPr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400"/>
              <a:buFont typeface="Inter Tight"/>
              <a:buNone/>
              <a:defRPr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>
            <a:endParaRPr/>
          </a:p>
        </p:txBody>
      </p:sp>
      <p:sp>
        <p:nvSpPr>
          <p:cNvPr id="41" name="Google Shape;41;p15"/>
          <p:cNvSpPr txBox="1">
            <a:spLocks noGrp="1"/>
          </p:cNvSpPr>
          <p:nvPr>
            <p:ph type="body" idx="2"/>
          </p:nvPr>
        </p:nvSpPr>
        <p:spPr>
          <a:xfrm>
            <a:off x="612800" y="3106833"/>
            <a:ext cx="5422400" cy="24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431789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500"/>
              <a:buFont typeface="Inter Tight"/>
              <a:buChar char="●"/>
              <a:defRPr sz="2000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marL="1219170" lvl="1" indent="-431789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500"/>
              <a:buFont typeface="Inter Tight"/>
              <a:buChar char="○"/>
              <a:defRPr sz="2000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marL="1828754" lvl="2" indent="-431789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500"/>
              <a:buFont typeface="Inter Tight"/>
              <a:buChar char="■"/>
              <a:defRPr sz="2000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marL="2438339" lvl="3" indent="-431789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500"/>
              <a:buFont typeface="Inter Tight"/>
              <a:buChar char="●"/>
              <a:defRPr sz="2000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marL="3047924" lvl="4" indent="-431789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500"/>
              <a:buFont typeface="Inter Tight"/>
              <a:buChar char="○"/>
              <a:defRPr sz="2000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marL="3657509" lvl="5" indent="-431789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500"/>
              <a:buFont typeface="Inter Tight"/>
              <a:buChar char="■"/>
              <a:defRPr sz="2000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marL="4267093" lvl="6" indent="-431789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500"/>
              <a:buFont typeface="Inter Tight"/>
              <a:buChar char="●"/>
              <a:defRPr sz="2000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marL="4876678" lvl="7" indent="-431789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500"/>
              <a:buFont typeface="Inter Tight"/>
              <a:buChar char="○"/>
              <a:defRPr sz="2000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marL="5486263" lvl="8" indent="-431789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500"/>
              <a:buFont typeface="Inter Tight"/>
              <a:buChar char="■"/>
              <a:defRPr sz="2000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003205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B64027-59FE-4647-9DF8-B8772C91F560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B4B1F056-BB73-4148-BFFA-8D7737A3BE98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219661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  <p:sldLayoutId id="214748369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94B722-1259-1E90-367A-15CC84EA3CD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SWOT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7DA456-C2B9-846A-30E8-BEFE28A6CB5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NETFLIX</a:t>
            </a:r>
          </a:p>
        </p:txBody>
      </p:sp>
    </p:spTree>
    <p:extLst>
      <p:ext uri="{BB962C8B-B14F-4D97-AF65-F5344CB8AC3E}">
        <p14:creationId xmlns:p14="http://schemas.microsoft.com/office/powerpoint/2010/main" val="8655163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>
          <a:extLst>
            <a:ext uri="{FF2B5EF4-FFF2-40B4-BE49-F238E27FC236}">
              <a16:creationId xmlns:a16="http://schemas.microsoft.com/office/drawing/2014/main" id="{DDE724E3-91D8-BBB8-482F-07B0A06833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43">
            <a:extLst>
              <a:ext uri="{FF2B5EF4-FFF2-40B4-BE49-F238E27FC236}">
                <a16:creationId xmlns:a16="http://schemas.microsoft.com/office/drawing/2014/main" id="{5F6A0074-B69B-A295-AFF6-AD19CB745AA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12801" y="267885"/>
            <a:ext cx="10619348" cy="1197388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r>
              <a:rPr lang="en" sz="3733" dirty="0">
                <a:solidFill>
                  <a:srgbClr val="5470E7"/>
                </a:solidFill>
              </a:rPr>
              <a:t>Summarize your platform's current state using SWOT framework</a:t>
            </a:r>
            <a:endParaRPr lang="en-US" dirty="0"/>
          </a:p>
        </p:txBody>
      </p:sp>
      <p:sp>
        <p:nvSpPr>
          <p:cNvPr id="169" name="Google Shape;169;p43">
            <a:extLst>
              <a:ext uri="{FF2B5EF4-FFF2-40B4-BE49-F238E27FC236}">
                <a16:creationId xmlns:a16="http://schemas.microsoft.com/office/drawing/2014/main" id="{47C1C540-3E91-9539-1BC7-C339D4794C61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314185" y="1457984"/>
            <a:ext cx="5781815" cy="3973987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pPr marL="177796" indent="0">
              <a:buNone/>
            </a:pP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Strengths</a:t>
            </a:r>
          </a:p>
          <a:p>
            <a:pPr>
              <a:lnSpc>
                <a:spcPct val="100000"/>
              </a:lnSpc>
            </a:pPr>
            <a:r>
              <a:rPr lang="en-US" sz="1100" b="1" dirty="0">
                <a:latin typeface="Arial" panose="020B0604020202020204" pitchFamily="34" charset="0"/>
                <a:cs typeface="Arial" panose="020B0604020202020204" pitchFamily="34" charset="0"/>
              </a:rPr>
              <a:t>Observation</a:t>
            </a:r>
            <a:b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Netflix has a large number of movies and TV shows and a wide variety of genres on the platform.</a:t>
            </a:r>
          </a:p>
          <a:p>
            <a:pPr>
              <a:lnSpc>
                <a:spcPct val="100000"/>
              </a:lnSpc>
            </a:pPr>
            <a:r>
              <a:rPr lang="en-US" sz="1100" b="1" dirty="0">
                <a:latin typeface="Arial" panose="020B0604020202020204" pitchFamily="34" charset="0"/>
                <a:cs typeface="Arial" panose="020B0604020202020204" pitchFamily="34" charset="0"/>
              </a:rPr>
              <a:t>Evidence</a:t>
            </a:r>
            <a:b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The Movie vs TV bar chart shows a large volume of titles, and the genre mix chart shows strong representation across multiple genres such as drama, comedy, reality, and documentary.</a:t>
            </a:r>
          </a:p>
          <a:p>
            <a:pPr>
              <a:lnSpc>
                <a:spcPct val="100000"/>
              </a:lnSpc>
            </a:pPr>
            <a:r>
              <a:rPr lang="en-US" sz="1100" b="1" dirty="0">
                <a:latin typeface="Arial" panose="020B0604020202020204" pitchFamily="34" charset="0"/>
                <a:cs typeface="Arial" panose="020B0604020202020204" pitchFamily="34" charset="0"/>
              </a:rPr>
              <a:t>Strategic Implication</a:t>
            </a:r>
            <a:b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This large and diverse catalog allows Netflix to attract a broad audience and maintain strong viewer engagement.</a:t>
            </a:r>
            <a:endParaRPr lang="en"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" sz="1400" b="1" dirty="0">
                <a:latin typeface="Arial"/>
                <a:cs typeface="Arial"/>
              </a:rPr>
              <a:t>Weaknesses</a:t>
            </a:r>
          </a:p>
          <a:p>
            <a:pPr>
              <a:lnSpc>
                <a:spcPct val="100000"/>
              </a:lnSpc>
            </a:pPr>
            <a:r>
              <a:rPr lang="en-US" sz="1100" b="1" dirty="0">
                <a:latin typeface="Arial" panose="020B0604020202020204" pitchFamily="34" charset="0"/>
                <a:cs typeface="Arial" panose="020B0604020202020204" pitchFamily="34" charset="0"/>
              </a:rPr>
              <a:t>Observation</a:t>
            </a:r>
            <a:b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Netflix’s content catalog is dominated by movies, while TV shows represent a smaller portion of the platform’s library.</a:t>
            </a:r>
          </a:p>
          <a:p>
            <a:pPr>
              <a:lnSpc>
                <a:spcPct val="100000"/>
              </a:lnSpc>
            </a:pPr>
            <a:r>
              <a:rPr lang="en-US" sz="1100" b="1" dirty="0">
                <a:latin typeface="Arial" panose="020B0604020202020204" pitchFamily="34" charset="0"/>
                <a:cs typeface="Arial" panose="020B0604020202020204" pitchFamily="34" charset="0"/>
              </a:rPr>
              <a:t>Evidence</a:t>
            </a:r>
            <a:b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The Movie vs TV bar chart shows that movies make up a significantly larger share of the catalog compared to TV shows.</a:t>
            </a:r>
          </a:p>
          <a:p>
            <a:pPr>
              <a:lnSpc>
                <a:spcPct val="100000"/>
              </a:lnSpc>
            </a:pPr>
            <a:r>
              <a:rPr lang="en-US" sz="1100" b="1" dirty="0">
                <a:latin typeface="Arial" panose="020B0604020202020204" pitchFamily="34" charset="0"/>
                <a:cs typeface="Arial" panose="020B0604020202020204" pitchFamily="34" charset="0"/>
              </a:rPr>
              <a:t>Risk Implication</a:t>
            </a:r>
            <a:b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Since TV series typically drive longer viewing time and subscriber retention, this imbalance could limit long-term engagement if users prefer serialized content.</a:t>
            </a:r>
          </a:p>
          <a:p>
            <a:pPr marL="177796" indent="0">
              <a:lnSpc>
                <a:spcPct val="150000"/>
              </a:lnSpc>
              <a:buNone/>
            </a:pPr>
            <a:endParaRPr lang="en" sz="1867" dirty="0">
              <a:latin typeface="Arial"/>
              <a:cs typeface="Arial"/>
            </a:endParaRPr>
          </a:p>
        </p:txBody>
      </p:sp>
      <p:pic>
        <p:nvPicPr>
          <p:cNvPr id="170" name="Google Shape;170;p43">
            <a:extLst>
              <a:ext uri="{FF2B5EF4-FFF2-40B4-BE49-F238E27FC236}">
                <a16:creationId xmlns:a16="http://schemas.microsoft.com/office/drawing/2014/main" id="{393110E4-2109-5D88-B9EA-1F894021F7D6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19824" y="6345548"/>
            <a:ext cx="2468867" cy="489133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169;p43">
            <a:extLst>
              <a:ext uri="{FF2B5EF4-FFF2-40B4-BE49-F238E27FC236}">
                <a16:creationId xmlns:a16="http://schemas.microsoft.com/office/drawing/2014/main" id="{34C57762-F873-965E-92DC-1469D31F10E2}"/>
              </a:ext>
            </a:extLst>
          </p:cNvPr>
          <p:cNvSpPr txBox="1">
            <a:spLocks/>
          </p:cNvSpPr>
          <p:nvPr/>
        </p:nvSpPr>
        <p:spPr>
          <a:xfrm>
            <a:off x="6175709" y="1457984"/>
            <a:ext cx="5702106" cy="4311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500"/>
              <a:buFont typeface="Inter Tight"/>
              <a:buChar char="●"/>
              <a:defRPr sz="1500" b="0" i="0" u="none" strike="noStrike" cap="none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marL="914400" marR="0" lvl="1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500"/>
              <a:buFont typeface="Inter Tight"/>
              <a:buChar char="○"/>
              <a:defRPr sz="1500" b="0" i="0" u="none" strike="noStrike" cap="none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marL="1371600" marR="0" lvl="2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500"/>
              <a:buFont typeface="Inter Tight"/>
              <a:buChar char="■"/>
              <a:defRPr sz="1500" b="0" i="0" u="none" strike="noStrike" cap="none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marL="1828800" marR="0" lvl="3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500"/>
              <a:buFont typeface="Inter Tight"/>
              <a:buChar char="●"/>
              <a:defRPr sz="1500" b="0" i="0" u="none" strike="noStrike" cap="none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marL="2286000" marR="0" lvl="4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500"/>
              <a:buFont typeface="Inter Tight"/>
              <a:buChar char="○"/>
              <a:defRPr sz="1500" b="0" i="0" u="none" strike="noStrike" cap="none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marL="2743200" marR="0" lvl="5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500"/>
              <a:buFont typeface="Inter Tight"/>
              <a:buChar char="■"/>
              <a:defRPr sz="1500" b="0" i="0" u="none" strike="noStrike" cap="none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marL="3200400" marR="0" lvl="6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500"/>
              <a:buFont typeface="Inter Tight"/>
              <a:buChar char="●"/>
              <a:defRPr sz="1500" b="0" i="0" u="none" strike="noStrike" cap="none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marL="3657600" marR="0" lvl="7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500"/>
              <a:buFont typeface="Inter Tight"/>
              <a:buChar char="○"/>
              <a:defRPr sz="1500" b="0" i="0" u="none" strike="noStrike" cap="none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marL="4114800" marR="0" lvl="8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500"/>
              <a:buFont typeface="Inter Tight"/>
              <a:buChar char="■"/>
              <a:defRPr sz="1500" b="0" i="0" u="none" strike="noStrike" cap="none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" sz="1400" b="1" dirty="0">
                <a:latin typeface="Arial"/>
                <a:cs typeface="Arial"/>
              </a:rPr>
              <a:t>Opportunities</a:t>
            </a:r>
          </a:p>
          <a:p>
            <a:pPr marL="380990" indent="-380990"/>
            <a:r>
              <a:rPr lang="en" sz="1100" b="1" dirty="0">
                <a:latin typeface="Arial" panose="020B0604020202020204" pitchFamily="34" charset="0"/>
                <a:cs typeface="Arial" panose="020B0604020202020204" pitchFamily="34" charset="0"/>
              </a:rPr>
              <a:t>Market gap observed: </a:t>
            </a:r>
          </a:p>
          <a:p>
            <a:pPr marL="457200" lvl="1" indent="0">
              <a:buNone/>
            </a:pPr>
            <a:r>
              <a:rPr lang="en-US" sz="1100" dirty="0"/>
              <a:t>Some niche genres such as documentaries and international content appear less represented compared to dominant genres like drama and comedy.</a:t>
            </a:r>
            <a:endParaRPr lang="en"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80990" indent="-380990"/>
            <a:r>
              <a:rPr lang="en" sz="1100" b="1" dirty="0">
                <a:latin typeface="Arial" panose="020B0604020202020204" pitchFamily="34" charset="0"/>
                <a:cs typeface="Arial" panose="020B0604020202020204" pitchFamily="34" charset="0"/>
              </a:rPr>
              <a:t>Supporting data: </a:t>
            </a:r>
          </a:p>
          <a:p>
            <a:pPr marL="457200" lvl="1" indent="0">
              <a:buNone/>
            </a:pP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The IMDb score distribution shows most titles around the 6–7 range.</a:t>
            </a:r>
            <a:endParaRPr lang="en"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80990" indent="-380990"/>
            <a:r>
              <a:rPr lang="en" sz="1100" b="1" dirty="0">
                <a:latin typeface="Arial" panose="020B0604020202020204" pitchFamily="34" charset="0"/>
                <a:cs typeface="Arial" panose="020B0604020202020204" pitchFamily="34" charset="0"/>
              </a:rPr>
              <a:t>Strategic opportunity:</a:t>
            </a:r>
          </a:p>
          <a:p>
            <a:pPr indent="0">
              <a:buNone/>
            </a:pPr>
            <a:r>
              <a:rPr lang="en-US" sz="1400" dirty="0"/>
              <a:t>Netflix could expand investment in niche and international genres to attract new audience segments and further diversify its content offering.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indent="0">
              <a:buNone/>
            </a:pPr>
            <a:endParaRPr lang="en" sz="1867" dirty="0">
              <a:latin typeface="Arial"/>
              <a:cs typeface="Arial"/>
            </a:endParaRPr>
          </a:p>
          <a:p>
            <a:pPr marL="0" indent="0">
              <a:buNone/>
            </a:pPr>
            <a:r>
              <a:rPr lang="en" sz="1400" b="1" dirty="0">
                <a:latin typeface="Arial"/>
                <a:cs typeface="Arial"/>
              </a:rPr>
              <a:t>Threats</a:t>
            </a:r>
          </a:p>
          <a:p>
            <a:pPr marL="380990" indent="-380990"/>
            <a:r>
              <a:rPr lang="en" sz="1100" b="1" dirty="0">
                <a:latin typeface="Arial"/>
                <a:cs typeface="Arial"/>
              </a:rPr>
              <a:t>Competitive signal observed: </a:t>
            </a:r>
          </a:p>
          <a:p>
            <a:pPr marL="457200" lvl="1" indent="0">
              <a:buNone/>
            </a:pPr>
            <a:r>
              <a:rPr lang="en" sz="1100" dirty="0">
                <a:latin typeface="Arial" panose="020B0604020202020204" pitchFamily="34" charset="0"/>
                <a:cs typeface="Arial" panose="020B0604020202020204" pitchFamily="34" charset="0"/>
              </a:rPr>
              <a:t>Netflix shows a relatively wide distribution of scores, including numerous low-score outliers.</a:t>
            </a:r>
            <a:endParaRPr lang="en" sz="1100" dirty="0">
              <a:solidFill>
                <a:srgbClr val="000000"/>
              </a:solidFill>
              <a:latin typeface="Arial"/>
              <a:cs typeface="Arial"/>
            </a:endParaRPr>
          </a:p>
          <a:p>
            <a:pPr marL="380990" indent="-380990"/>
            <a:r>
              <a:rPr lang="en" sz="1100" b="1" dirty="0">
                <a:latin typeface="Arial"/>
                <a:cs typeface="Arial"/>
              </a:rPr>
              <a:t>Evidence from comparison: </a:t>
            </a:r>
          </a:p>
          <a:p>
            <a:pPr marL="457200" lvl="1" indent="0">
              <a:buNone/>
            </a:pPr>
            <a:r>
              <a:rPr lang="en-US" sz="1100" dirty="0"/>
              <a:t>The Rotten Tomatoes score distribution (box plot) shows a wider spread of scores for Netflix, with several lower-rated outliers.</a:t>
            </a:r>
            <a:endParaRPr lang="en" sz="1100" dirty="0">
              <a:solidFill>
                <a:srgbClr val="000000"/>
              </a:solidFill>
              <a:latin typeface="Arial"/>
              <a:cs typeface="Arial"/>
            </a:endParaRPr>
          </a:p>
          <a:p>
            <a:pPr marL="380990" indent="-380990"/>
            <a:r>
              <a:rPr lang="en" sz="1100" b="1" dirty="0">
                <a:latin typeface="Arial"/>
                <a:cs typeface="Arial"/>
              </a:rPr>
              <a:t>Strategic risk:</a:t>
            </a:r>
          </a:p>
          <a:p>
            <a:pPr marL="457200" lvl="1" indent="0">
              <a:buNone/>
            </a:pPr>
            <a:r>
              <a:rPr lang="en" sz="1100" dirty="0">
                <a:latin typeface="Arial" panose="020B0604020202020204" pitchFamily="34" charset="0"/>
                <a:cs typeface="Arial" panose="020B0604020202020204" pitchFamily="34" charset="0"/>
              </a:rPr>
              <a:t>This could lead to inconsistent user experience and potential reputational dilution if low-quality content reduces overall platform perception.</a:t>
            </a:r>
            <a:endParaRPr lang="en" sz="11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" sz="1100" dirty="0">
              <a:solidFill>
                <a:srgbClr val="000000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567550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>
          <a:extLst>
            <a:ext uri="{FF2B5EF4-FFF2-40B4-BE49-F238E27FC236}">
              <a16:creationId xmlns:a16="http://schemas.microsoft.com/office/drawing/2014/main" id="{DDF1E98F-63CD-1B3B-E16F-5FA39C403B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1C4927F-7299-C800-D3F8-C565CBBBB0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39886" y="1457985"/>
            <a:ext cx="8327572" cy="4282967"/>
          </a:xfrm>
          <a:prstGeom prst="rect">
            <a:avLst/>
          </a:prstGeom>
        </p:spPr>
      </p:pic>
      <p:sp>
        <p:nvSpPr>
          <p:cNvPr id="168" name="Google Shape;168;p43">
            <a:extLst>
              <a:ext uri="{FF2B5EF4-FFF2-40B4-BE49-F238E27FC236}">
                <a16:creationId xmlns:a16="http://schemas.microsoft.com/office/drawing/2014/main" id="{06A819FA-D710-2FAD-8300-CF67AC07919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12801" y="267885"/>
            <a:ext cx="10619348" cy="1197388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r>
              <a:rPr lang="en" sz="3733" dirty="0">
                <a:solidFill>
                  <a:srgbClr val="5470E7"/>
                </a:solidFill>
              </a:rPr>
              <a:t>Summarize your platform's current state using </a:t>
            </a:r>
            <a:r>
              <a:rPr lang="en" sz="3733">
                <a:solidFill>
                  <a:srgbClr val="5470E7"/>
                </a:solidFill>
              </a:rPr>
              <a:t>SWOT framework</a:t>
            </a:r>
            <a:endParaRPr lang="en-US"/>
          </a:p>
        </p:txBody>
      </p:sp>
      <p:sp>
        <p:nvSpPr>
          <p:cNvPr id="169" name="Google Shape;169;p43">
            <a:extLst>
              <a:ext uri="{FF2B5EF4-FFF2-40B4-BE49-F238E27FC236}">
                <a16:creationId xmlns:a16="http://schemas.microsoft.com/office/drawing/2014/main" id="{5A6E8EB3-F9DC-1537-413A-50871356C11E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612801" y="1457985"/>
            <a:ext cx="2536666" cy="914916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" sz="1400" b="1" dirty="0">
                <a:latin typeface="Arial" panose="020B0604020202020204" pitchFamily="34" charset="0"/>
                <a:cs typeface="Arial" panose="020B0604020202020204" pitchFamily="34" charset="0"/>
              </a:rPr>
              <a:t>Strengths</a:t>
            </a:r>
          </a:p>
          <a:p>
            <a:pPr marL="380990" indent="-380990"/>
            <a:r>
              <a:rPr lang="en" sz="1400" b="1" dirty="0">
                <a:latin typeface="Arial" panose="020B0604020202020204" pitchFamily="34" charset="0"/>
                <a:cs typeface="Arial" panose="020B0604020202020204" pitchFamily="34" charset="0"/>
              </a:rPr>
              <a:t>Observation: </a:t>
            </a:r>
          </a:p>
          <a:p>
            <a:pPr marL="609585" lvl="1" indent="0">
              <a:buNone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Netflix has a large number of movies and TV shows and a wide variety of genres on the platform.</a:t>
            </a:r>
            <a:endParaRPr lang="en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80990" indent="-380990"/>
            <a:r>
              <a:rPr lang="en" sz="1400" b="1" dirty="0">
                <a:latin typeface="Arial" panose="020B0604020202020204" pitchFamily="34" charset="0"/>
                <a:cs typeface="Arial" panose="020B0604020202020204" pitchFamily="34" charset="0"/>
              </a:rPr>
              <a:t>Evidence</a:t>
            </a:r>
            <a:endParaRPr lang="en" sz="1400" b="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09585" lvl="1" indent="0">
              <a:buNone/>
            </a:pPr>
            <a:r>
              <a:rPr lang="en" sz="1400" dirty="0">
                <a:latin typeface="Arial" panose="020B0604020202020204" pitchFamily="34" charset="0"/>
                <a:cs typeface="Arial" panose="020B0604020202020204" pitchFamily="34" charset="0"/>
              </a:rPr>
              <a:t> Bar chart</a:t>
            </a:r>
          </a:p>
          <a:p>
            <a:pPr marL="380990" indent="-380990"/>
            <a:r>
              <a:rPr lang="en" sz="1400" b="1" dirty="0">
                <a:latin typeface="Arial" panose="020B0604020202020204" pitchFamily="34" charset="0"/>
                <a:cs typeface="Arial" panose="020B0604020202020204" pitchFamily="34" charset="0"/>
              </a:rPr>
              <a:t>Strategic implication</a:t>
            </a:r>
            <a:endParaRPr lang="en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09585" lvl="1" indent="0">
              <a:buNone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This large and diverse catalog allows Netflix to attract a broad audience and maintain strong viewer engagement.</a:t>
            </a:r>
            <a:endParaRPr lang="en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" sz="1867" dirty="0">
              <a:highlight>
                <a:srgbClr val="FFFFFF"/>
              </a:highlight>
              <a:latin typeface="Arial"/>
              <a:cs typeface="Arial"/>
            </a:endParaRPr>
          </a:p>
          <a:p>
            <a:pPr marL="0" indent="0">
              <a:buNone/>
            </a:pPr>
            <a:endParaRPr lang="en" sz="1867" dirty="0">
              <a:highlight>
                <a:srgbClr val="FFFFFF"/>
              </a:highlight>
              <a:latin typeface="Arial"/>
              <a:cs typeface="Arial"/>
            </a:endParaRPr>
          </a:p>
        </p:txBody>
      </p:sp>
      <p:pic>
        <p:nvPicPr>
          <p:cNvPr id="170" name="Google Shape;170;p43">
            <a:extLst>
              <a:ext uri="{FF2B5EF4-FFF2-40B4-BE49-F238E27FC236}">
                <a16:creationId xmlns:a16="http://schemas.microsoft.com/office/drawing/2014/main" id="{B162EC02-71C7-A69A-593D-D26391654812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49467" y="6166734"/>
            <a:ext cx="2468867" cy="48913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825355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>
          <a:extLst>
            <a:ext uri="{FF2B5EF4-FFF2-40B4-BE49-F238E27FC236}">
              <a16:creationId xmlns:a16="http://schemas.microsoft.com/office/drawing/2014/main" id="{18D53743-99AE-E445-57DA-A2492F2724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866635D-102B-57D0-DE88-D408F6ACF5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5314" y="1605610"/>
            <a:ext cx="8110780" cy="3953411"/>
          </a:xfrm>
          <a:prstGeom prst="rect">
            <a:avLst/>
          </a:prstGeom>
        </p:spPr>
      </p:pic>
      <p:sp>
        <p:nvSpPr>
          <p:cNvPr id="168" name="Google Shape;168;p43">
            <a:extLst>
              <a:ext uri="{FF2B5EF4-FFF2-40B4-BE49-F238E27FC236}">
                <a16:creationId xmlns:a16="http://schemas.microsoft.com/office/drawing/2014/main" id="{7D5D9DD8-F4E6-0BED-7486-9E45BB0DB57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12801" y="267885"/>
            <a:ext cx="10619348" cy="1197388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r>
              <a:rPr lang="en" sz="3733" dirty="0">
                <a:solidFill>
                  <a:srgbClr val="5470E7"/>
                </a:solidFill>
              </a:rPr>
              <a:t>Summarize your platform's current state using </a:t>
            </a:r>
            <a:r>
              <a:rPr lang="en" sz="3733">
                <a:solidFill>
                  <a:srgbClr val="5470E7"/>
                </a:solidFill>
              </a:rPr>
              <a:t>SWOT framework</a:t>
            </a:r>
            <a:endParaRPr lang="en-US"/>
          </a:p>
        </p:txBody>
      </p:sp>
      <p:sp>
        <p:nvSpPr>
          <p:cNvPr id="169" name="Google Shape;169;p43">
            <a:extLst>
              <a:ext uri="{FF2B5EF4-FFF2-40B4-BE49-F238E27FC236}">
                <a16:creationId xmlns:a16="http://schemas.microsoft.com/office/drawing/2014/main" id="{1F3E8A84-BE36-D21A-BE1F-79E901F9DF94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612801" y="1457984"/>
            <a:ext cx="3262513" cy="4568413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" sz="1400" b="1" dirty="0">
                <a:latin typeface="Arial" panose="020B0604020202020204" pitchFamily="34" charset="0"/>
                <a:cs typeface="Arial" panose="020B0604020202020204" pitchFamily="34" charset="0"/>
              </a:rPr>
              <a:t>Weaknesses</a:t>
            </a:r>
          </a:p>
          <a:p>
            <a:pPr marL="380990" indent="-380990"/>
            <a:r>
              <a:rPr lang="en" sz="1400" b="1" dirty="0">
                <a:latin typeface="Arial" panose="020B0604020202020204" pitchFamily="34" charset="0"/>
                <a:cs typeface="Arial" panose="020B0604020202020204" pitchFamily="34" charset="0"/>
              </a:rPr>
              <a:t>Observation: </a:t>
            </a:r>
          </a:p>
          <a:p>
            <a:pPr marL="609585" lvl="1" indent="0">
              <a:buNone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Netflix’s content catalog is dominated by movies, while TV shows represent a smaller portion of the platform’s library.</a:t>
            </a:r>
            <a:endParaRPr lang="en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80990" indent="-380990"/>
            <a:r>
              <a:rPr lang="en" sz="1400" b="1" dirty="0">
                <a:latin typeface="Arial" panose="020B0604020202020204" pitchFamily="34" charset="0"/>
                <a:cs typeface="Arial" panose="020B0604020202020204" pitchFamily="34" charset="0"/>
              </a:rPr>
              <a:t>Evidence</a:t>
            </a:r>
            <a:endParaRPr lang="en" sz="1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indent="0">
              <a:buNone/>
            </a:pPr>
            <a:r>
              <a:rPr lang="en" sz="1400" dirty="0">
                <a:latin typeface="Arial" panose="020B0604020202020204" pitchFamily="34" charset="0"/>
                <a:cs typeface="Arial" panose="020B0604020202020204" pitchFamily="34" charset="0"/>
              </a:rPr>
              <a:t>Below bar chart</a:t>
            </a:r>
          </a:p>
          <a:p>
            <a:pPr marL="380990" indent="-380990"/>
            <a:r>
              <a:rPr lang="en" sz="1400" b="1" dirty="0">
                <a:latin typeface="Arial" panose="020B0604020202020204" pitchFamily="34" charset="0"/>
                <a:cs typeface="Arial" panose="020B0604020202020204" pitchFamily="34" charset="0"/>
              </a:rPr>
              <a:t>Strategic implication</a:t>
            </a:r>
            <a:endParaRPr lang="en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09585" lvl="1" indent="0">
              <a:buNone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Since TV series typically drive longer viewing time and subscriber retention, this imbalance could limit long-term engagement if users prefer serialized content.</a:t>
            </a:r>
            <a:endParaRPr lang="en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70" name="Google Shape;170;p43">
            <a:extLst>
              <a:ext uri="{FF2B5EF4-FFF2-40B4-BE49-F238E27FC236}">
                <a16:creationId xmlns:a16="http://schemas.microsoft.com/office/drawing/2014/main" id="{2D85B6E7-DD63-A548-F65A-8B8F23490C1B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49467" y="6166734"/>
            <a:ext cx="2468867" cy="48913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59622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>
          <a:extLst>
            <a:ext uri="{FF2B5EF4-FFF2-40B4-BE49-F238E27FC236}">
              <a16:creationId xmlns:a16="http://schemas.microsoft.com/office/drawing/2014/main" id="{E056F5F0-AB10-939F-7353-D0DB5D78A9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aph of different colored columns&#10;&#10;AI-generated content may be incorrect.">
            <a:extLst>
              <a:ext uri="{FF2B5EF4-FFF2-40B4-BE49-F238E27FC236}">
                <a16:creationId xmlns:a16="http://schemas.microsoft.com/office/drawing/2014/main" id="{2E6E017F-C2D5-F646-7FB1-FDF96A61DC6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9501" b="-247"/>
          <a:stretch>
            <a:fillRect/>
          </a:stretch>
        </p:blipFill>
        <p:spPr>
          <a:xfrm>
            <a:off x="5124660" y="1457984"/>
            <a:ext cx="7090481" cy="4319780"/>
          </a:xfrm>
          <a:prstGeom prst="rect">
            <a:avLst/>
          </a:prstGeom>
        </p:spPr>
      </p:pic>
      <p:sp>
        <p:nvSpPr>
          <p:cNvPr id="168" name="Google Shape;168;p43">
            <a:extLst>
              <a:ext uri="{FF2B5EF4-FFF2-40B4-BE49-F238E27FC236}">
                <a16:creationId xmlns:a16="http://schemas.microsoft.com/office/drawing/2014/main" id="{575746DE-5991-78C2-D31A-9E02118E5EA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12801" y="267885"/>
            <a:ext cx="10619348" cy="1197388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r>
              <a:rPr lang="en" sz="3733" dirty="0">
                <a:solidFill>
                  <a:srgbClr val="5470E7"/>
                </a:solidFill>
              </a:rPr>
              <a:t>Summarize your platform's current state using SWOT framework</a:t>
            </a:r>
            <a:endParaRPr lang="en-US" dirty="0"/>
          </a:p>
        </p:txBody>
      </p:sp>
      <p:sp>
        <p:nvSpPr>
          <p:cNvPr id="169" name="Google Shape;169;p43">
            <a:extLst>
              <a:ext uri="{FF2B5EF4-FFF2-40B4-BE49-F238E27FC236}">
                <a16:creationId xmlns:a16="http://schemas.microsoft.com/office/drawing/2014/main" id="{35DCD40B-0D80-F5CE-D511-B709D2531271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612801" y="1457984"/>
            <a:ext cx="4187799" cy="3995759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" sz="1400" b="1" dirty="0">
                <a:latin typeface="Arial" panose="020B0604020202020204" pitchFamily="34" charset="0"/>
                <a:cs typeface="Arial" panose="020B0604020202020204" pitchFamily="34" charset="0"/>
              </a:rPr>
              <a:t>Opportunities</a:t>
            </a:r>
            <a:endParaRPr 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80990" indent="-380990"/>
            <a:r>
              <a:rPr lang="en" sz="1400" b="1" dirty="0">
                <a:latin typeface="Arial" panose="020B0604020202020204" pitchFamily="34" charset="0"/>
                <a:cs typeface="Arial" panose="020B0604020202020204" pitchFamily="34" charset="0"/>
              </a:rPr>
              <a:t>Market gap observed: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Some genres like documentaries and niche international content appear less represented in Netflix’s genre mix compared to its dominant genres like drama and comedy.</a:t>
            </a:r>
            <a:endParaRPr lang="en" sz="1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" sz="1400" b="1" dirty="0">
                <a:latin typeface="Arial" panose="020B0604020202020204" pitchFamily="34" charset="0"/>
                <a:cs typeface="Arial" panose="020B0604020202020204" pitchFamily="34" charset="0"/>
              </a:rPr>
              <a:t>  Supporting data</a:t>
            </a:r>
          </a:p>
          <a:p>
            <a:pPr marL="0" indent="0">
              <a:buNone/>
            </a:pPr>
            <a:r>
              <a:rPr lang="en" sz="1400" dirty="0">
                <a:latin typeface="Arial" panose="020B0604020202020204" pitchFamily="34" charset="0"/>
                <a:cs typeface="Arial" panose="020B0604020202020204" pitchFamily="34" charset="0"/>
              </a:rPr>
              <a:t>  Stacked bar chart</a:t>
            </a:r>
          </a:p>
          <a:p>
            <a:pPr marL="380990" indent="-380990"/>
            <a:r>
              <a:rPr lang="en" sz="1400" b="1" dirty="0">
                <a:latin typeface="Arial" panose="020B0604020202020204" pitchFamily="34" charset="0"/>
                <a:cs typeface="Arial" panose="020B0604020202020204" pitchFamily="34" charset="0"/>
              </a:rPr>
              <a:t>Strategic opportunity:</a:t>
            </a:r>
            <a:endParaRPr lang="en" sz="1400" b="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09585" lvl="1" indent="0">
              <a:buNone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Netflix could invest more in niche genres such as documentaries or regional/international content to attract new audiences and further diversify its catalog.</a:t>
            </a:r>
            <a:endParaRPr lang="en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" sz="1867" dirty="0">
              <a:highlight>
                <a:srgbClr val="FFFFFF"/>
              </a:highlight>
              <a:latin typeface="Arial"/>
              <a:cs typeface="Arial"/>
            </a:endParaRPr>
          </a:p>
          <a:p>
            <a:pPr marL="0" indent="0">
              <a:buNone/>
            </a:pPr>
            <a:endParaRPr lang="en" sz="1867" dirty="0">
              <a:highlight>
                <a:srgbClr val="FFFFFF"/>
              </a:highlight>
              <a:latin typeface="Arial"/>
              <a:cs typeface="Arial"/>
            </a:endParaRPr>
          </a:p>
          <a:p>
            <a:pPr marL="0" indent="0">
              <a:buNone/>
            </a:pPr>
            <a:endParaRPr lang="en" sz="1867" dirty="0">
              <a:highlight>
                <a:srgbClr val="FFFFFF"/>
              </a:highlight>
              <a:latin typeface="Arial"/>
              <a:cs typeface="Arial"/>
            </a:endParaRPr>
          </a:p>
          <a:p>
            <a:pPr marL="0" indent="0">
              <a:buNone/>
            </a:pPr>
            <a:endParaRPr lang="en" sz="1867" dirty="0">
              <a:highlight>
                <a:srgbClr val="FFFFFF"/>
              </a:highlight>
              <a:latin typeface="Arial"/>
              <a:cs typeface="Arial"/>
            </a:endParaRPr>
          </a:p>
        </p:txBody>
      </p:sp>
      <p:pic>
        <p:nvPicPr>
          <p:cNvPr id="170" name="Google Shape;170;p43">
            <a:extLst>
              <a:ext uri="{FF2B5EF4-FFF2-40B4-BE49-F238E27FC236}">
                <a16:creationId xmlns:a16="http://schemas.microsoft.com/office/drawing/2014/main" id="{5ACF64A5-0D06-0393-4E50-AB677DCB8F35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49467" y="6166734"/>
            <a:ext cx="2468867" cy="48913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 descr="A screen shot of a list of movies&#10;&#10;AI-generated content may be incorrect.">
            <a:extLst>
              <a:ext uri="{FF2B5EF4-FFF2-40B4-BE49-F238E27FC236}">
                <a16:creationId xmlns:a16="http://schemas.microsoft.com/office/drawing/2014/main" id="{7C2EDE99-5F78-A14C-B4EE-BD1520E7C6B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59143" y="1750987"/>
            <a:ext cx="1492712" cy="1678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35878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>
          <a:extLst>
            <a:ext uri="{FF2B5EF4-FFF2-40B4-BE49-F238E27FC236}">
              <a16:creationId xmlns:a16="http://schemas.microsoft.com/office/drawing/2014/main" id="{46ACB736-3C13-0837-B6E3-D7277E3049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9B8E1A4-40D5-AB37-E833-147BB174D4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0886" y="1384185"/>
            <a:ext cx="8222227" cy="4015831"/>
          </a:xfrm>
          <a:prstGeom prst="rect">
            <a:avLst/>
          </a:prstGeom>
        </p:spPr>
      </p:pic>
      <p:sp>
        <p:nvSpPr>
          <p:cNvPr id="168" name="Google Shape;168;p43">
            <a:extLst>
              <a:ext uri="{FF2B5EF4-FFF2-40B4-BE49-F238E27FC236}">
                <a16:creationId xmlns:a16="http://schemas.microsoft.com/office/drawing/2014/main" id="{7A49C7BB-CC94-EE02-2552-B7F7DC2B524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12801" y="267885"/>
            <a:ext cx="10619348" cy="1197388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r>
              <a:rPr lang="en" sz="3733" dirty="0">
                <a:solidFill>
                  <a:srgbClr val="5470E7"/>
                </a:solidFill>
              </a:rPr>
              <a:t>Summarize your platform's current state using SWOT framework</a:t>
            </a:r>
            <a:endParaRPr lang="en-US" dirty="0"/>
          </a:p>
        </p:txBody>
      </p:sp>
      <p:sp>
        <p:nvSpPr>
          <p:cNvPr id="169" name="Google Shape;169;p43">
            <a:extLst>
              <a:ext uri="{FF2B5EF4-FFF2-40B4-BE49-F238E27FC236}">
                <a16:creationId xmlns:a16="http://schemas.microsoft.com/office/drawing/2014/main" id="{D85A9595-E3D5-AAA2-642F-525EE83A1371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370115" y="1457984"/>
            <a:ext cx="3189514" cy="3701845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" sz="1400" b="1" dirty="0">
                <a:latin typeface="Arial" panose="020B0604020202020204" pitchFamily="34" charset="0"/>
                <a:cs typeface="Arial" panose="020B0604020202020204" pitchFamily="34" charset="0"/>
              </a:rPr>
              <a:t>Threats</a:t>
            </a:r>
            <a:endParaRPr 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80990" indent="-380990"/>
            <a:r>
              <a:rPr lang="en" sz="1400" b="1" dirty="0">
                <a:latin typeface="Arial" panose="020B0604020202020204" pitchFamily="34" charset="0"/>
                <a:cs typeface="Arial" panose="020B0604020202020204" pitchFamily="34" charset="0"/>
              </a:rPr>
              <a:t>Competitive signal observed</a:t>
            </a:r>
            <a:endParaRPr lang="en" sz="1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09585" lvl="1" indent="0">
              <a:buNone/>
            </a:pPr>
            <a:r>
              <a:rPr lang="en" sz="1400" dirty="0">
                <a:latin typeface="Arial" panose="020B0604020202020204" pitchFamily="34" charset="0"/>
                <a:cs typeface="Arial" panose="020B0604020202020204" pitchFamily="34" charset="0"/>
              </a:rPr>
              <a:t>Netflix shows a relatively wide distribution of scores, including numerous low-score outliers.</a:t>
            </a:r>
          </a:p>
          <a:p>
            <a:pPr marL="380990" indent="-380990"/>
            <a:r>
              <a:rPr lang="en" sz="1400" b="1" dirty="0">
                <a:latin typeface="Arial" panose="020B0604020202020204" pitchFamily="34" charset="0"/>
                <a:cs typeface="Arial" panose="020B0604020202020204" pitchFamily="34" charset="0"/>
              </a:rPr>
              <a:t>Supporting data</a:t>
            </a:r>
          </a:p>
          <a:p>
            <a:pPr marL="0" indent="0">
              <a:buNone/>
            </a:pPr>
            <a:r>
              <a:rPr lang="en" sz="1400" dirty="0">
                <a:latin typeface="Arial" panose="020B0604020202020204" pitchFamily="34" charset="0"/>
                <a:cs typeface="Arial" panose="020B0604020202020204" pitchFamily="34" charset="0"/>
              </a:rPr>
              <a:t>  Below box plot</a:t>
            </a:r>
          </a:p>
          <a:p>
            <a:pPr marL="380990" indent="-380990"/>
            <a:r>
              <a:rPr lang="en" sz="1400" b="1" dirty="0">
                <a:latin typeface="Arial" panose="020B0604020202020204" pitchFamily="34" charset="0"/>
                <a:cs typeface="Arial" panose="020B0604020202020204" pitchFamily="34" charset="0"/>
              </a:rPr>
              <a:t>Strategic opportunity:</a:t>
            </a:r>
            <a:endParaRPr lang="en" sz="1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09585" lvl="1" indent="0">
              <a:buNone/>
            </a:pPr>
            <a:r>
              <a:rPr lang="en" sz="1400" dirty="0">
                <a:latin typeface="Arial" panose="020B0604020202020204" pitchFamily="34" charset="0"/>
                <a:cs typeface="Arial" panose="020B0604020202020204" pitchFamily="34" charset="0"/>
              </a:rPr>
              <a:t>This could lead to inconsistent user experience and potential reputational dilution if low-quality content reduces overall platform perception.</a:t>
            </a:r>
            <a:endParaRPr lang="en" sz="1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" sz="1867" dirty="0">
              <a:highlight>
                <a:srgbClr val="FFFFFF"/>
              </a:highlight>
              <a:latin typeface="Arial"/>
              <a:cs typeface="Arial"/>
            </a:endParaRPr>
          </a:p>
          <a:p>
            <a:pPr marL="0" indent="0">
              <a:buNone/>
            </a:pPr>
            <a:endParaRPr lang="en" sz="1867" dirty="0">
              <a:highlight>
                <a:srgbClr val="FFFFFF"/>
              </a:highlight>
              <a:latin typeface="Arial"/>
              <a:cs typeface="Arial"/>
            </a:endParaRPr>
          </a:p>
          <a:p>
            <a:pPr marL="0" indent="0">
              <a:buNone/>
            </a:pPr>
            <a:endParaRPr lang="en" sz="1867" dirty="0">
              <a:highlight>
                <a:srgbClr val="FFFFFF"/>
              </a:highlight>
              <a:latin typeface="Arial"/>
              <a:cs typeface="Arial"/>
            </a:endParaRPr>
          </a:p>
          <a:p>
            <a:pPr marL="0" indent="0">
              <a:buNone/>
            </a:pPr>
            <a:endParaRPr lang="en" sz="1867" dirty="0">
              <a:highlight>
                <a:srgbClr val="FFFFFF"/>
              </a:highlight>
              <a:latin typeface="Arial"/>
              <a:cs typeface="Arial"/>
            </a:endParaRPr>
          </a:p>
          <a:p>
            <a:pPr marL="0" indent="0">
              <a:buNone/>
            </a:pPr>
            <a:endParaRPr lang="en" sz="1867" dirty="0">
              <a:highlight>
                <a:srgbClr val="FFFFFF"/>
              </a:highlight>
              <a:latin typeface="Arial"/>
              <a:cs typeface="Arial"/>
            </a:endParaRPr>
          </a:p>
        </p:txBody>
      </p:sp>
      <p:pic>
        <p:nvPicPr>
          <p:cNvPr id="170" name="Google Shape;170;p43">
            <a:extLst>
              <a:ext uri="{FF2B5EF4-FFF2-40B4-BE49-F238E27FC236}">
                <a16:creationId xmlns:a16="http://schemas.microsoft.com/office/drawing/2014/main" id="{A781E42B-C90D-947A-A474-736B9805C4B7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49467" y="6166734"/>
            <a:ext cx="2468867" cy="48913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476042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>
          <a:extLst>
            <a:ext uri="{FF2B5EF4-FFF2-40B4-BE49-F238E27FC236}">
              <a16:creationId xmlns:a16="http://schemas.microsoft.com/office/drawing/2014/main" id="{63CBA259-48B5-27E3-A64F-352AE330A5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43">
            <a:extLst>
              <a:ext uri="{FF2B5EF4-FFF2-40B4-BE49-F238E27FC236}">
                <a16:creationId xmlns:a16="http://schemas.microsoft.com/office/drawing/2014/main" id="{676A5EB7-A890-074B-D4AC-139F9570CD9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12801" y="267884"/>
            <a:ext cx="9957545" cy="731605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r>
              <a:rPr lang="en" sz="3733" b="0">
                <a:solidFill>
                  <a:srgbClr val="5470E7"/>
                </a:solidFill>
              </a:rPr>
              <a:t>Strategic recommendation from SWOT analysis</a:t>
            </a:r>
            <a:endParaRPr lang="en-US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6645464-00BC-FA93-489B-950B55833187}"/>
              </a:ext>
            </a:extLst>
          </p:cNvPr>
          <p:cNvSpPr>
            <a:spLocks noGrp="1" noChangeArrowheads="1"/>
          </p:cNvSpPr>
          <p:nvPr>
            <p:ph type="body" idx="2"/>
          </p:nvPr>
        </p:nvSpPr>
        <p:spPr bwMode="auto">
          <a:xfrm>
            <a:off x="612801" y="1273659"/>
            <a:ext cx="10371575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Based on the SWOT analysis,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Netflix should continue expanding its diverse content library while investing more in niche and international genres.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This recommendation is supported by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the genre mix chart and the large number of titles shown in the platform distribution and release year charts.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The expected outcome would be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higher viewer engagement and the ability to attract a wider global audience.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accent4">
                  <a:lumMod val="75000"/>
                </a:schemeClr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70" name="Google Shape;170;p43">
            <a:extLst>
              <a:ext uri="{FF2B5EF4-FFF2-40B4-BE49-F238E27FC236}">
                <a16:creationId xmlns:a16="http://schemas.microsoft.com/office/drawing/2014/main" id="{5008FA2F-7626-2CF1-A103-8B9B6E7BE9F1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49467" y="6166734"/>
            <a:ext cx="2468867" cy="48913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45033691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305</TotalTime>
  <Words>633</Words>
  <Application>Microsoft Office PowerPoint</Application>
  <PresentationFormat>Widescreen</PresentationFormat>
  <Paragraphs>66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Aptos</vt:lpstr>
      <vt:lpstr>Arial</vt:lpstr>
      <vt:lpstr>Gill Sans MT</vt:lpstr>
      <vt:lpstr>Helvetica Neue</vt:lpstr>
      <vt:lpstr>Inter Tight</vt:lpstr>
      <vt:lpstr>Gallery</vt:lpstr>
      <vt:lpstr>SWOT ANALYSIS</vt:lpstr>
      <vt:lpstr>Summarize your platform's current state using SWOT framework</vt:lpstr>
      <vt:lpstr>Summarize your platform's current state using SWOT framework</vt:lpstr>
      <vt:lpstr>Summarize your platform's current state using SWOT framework</vt:lpstr>
      <vt:lpstr>Summarize your platform's current state using SWOT framework</vt:lpstr>
      <vt:lpstr>Summarize your platform's current state using SWOT framework</vt:lpstr>
      <vt:lpstr>Strategic recommendation from SWOT analysis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Thrisha Jawahar</dc:creator>
  <cp:lastModifiedBy>Thrisha Jawahar</cp:lastModifiedBy>
  <cp:revision>3</cp:revision>
  <dcterms:created xsi:type="dcterms:W3CDTF">2026-03-09T17:04:43Z</dcterms:created>
  <dcterms:modified xsi:type="dcterms:W3CDTF">2026-03-14T21:24:08Z</dcterms:modified>
</cp:coreProperties>
</file>