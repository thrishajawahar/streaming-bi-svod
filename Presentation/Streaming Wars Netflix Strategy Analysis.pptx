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12F30F-D0D3-4B6C-9F2B-56C001C16F2C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80DA619-EB87-4B23-8442-6BA486BB083E}">
      <dgm:prSet/>
      <dgm:spPr/>
      <dgm:t>
        <a:bodyPr/>
        <a:lstStyle/>
        <a:p>
          <a:r>
            <a:rPr lang="en-US" b="1"/>
            <a:t>Content as Differentiator</a:t>
          </a:r>
          <a:endParaRPr lang="en-US"/>
        </a:p>
      </dgm:t>
    </dgm:pt>
    <dgm:pt modelId="{9A7FEB50-5D11-4667-8808-2885F22BC6F4}" type="parTrans" cxnId="{28D3715B-BEC4-444D-99A5-70CC07F4EF17}">
      <dgm:prSet/>
      <dgm:spPr/>
      <dgm:t>
        <a:bodyPr/>
        <a:lstStyle/>
        <a:p>
          <a:endParaRPr lang="en-US"/>
        </a:p>
      </dgm:t>
    </dgm:pt>
    <dgm:pt modelId="{99ADBF27-9853-493A-B796-881585C8A311}" type="sibTrans" cxnId="{28D3715B-BEC4-444D-99A5-70CC07F4EF17}">
      <dgm:prSet/>
      <dgm:spPr/>
      <dgm:t>
        <a:bodyPr/>
        <a:lstStyle/>
        <a:p>
          <a:endParaRPr lang="en-US"/>
        </a:p>
      </dgm:t>
    </dgm:pt>
    <dgm:pt modelId="{12219426-6E82-43CA-83EA-104116D231E5}">
      <dgm:prSet/>
      <dgm:spPr/>
      <dgm:t>
        <a:bodyPr/>
        <a:lstStyle/>
        <a:p>
          <a:r>
            <a:rPr lang="en-US"/>
            <a:t>Platforms compete using content volume, variety, and quality as key differentiators</a:t>
          </a:r>
        </a:p>
      </dgm:t>
    </dgm:pt>
    <dgm:pt modelId="{BAC22320-2B1A-4E26-9086-90B27221159F}" type="parTrans" cxnId="{9ABA3814-9423-41A2-8D30-0AC3E5F03E2C}">
      <dgm:prSet/>
      <dgm:spPr/>
      <dgm:t>
        <a:bodyPr/>
        <a:lstStyle/>
        <a:p>
          <a:endParaRPr lang="en-US"/>
        </a:p>
      </dgm:t>
    </dgm:pt>
    <dgm:pt modelId="{BB7CAD11-274D-4F34-BFDD-7F91C8F3187B}" type="sibTrans" cxnId="{9ABA3814-9423-41A2-8D30-0AC3E5F03E2C}">
      <dgm:prSet/>
      <dgm:spPr/>
      <dgm:t>
        <a:bodyPr/>
        <a:lstStyle/>
        <a:p>
          <a:endParaRPr lang="en-US"/>
        </a:p>
      </dgm:t>
    </dgm:pt>
    <dgm:pt modelId="{EF785194-A1C0-4372-A8C5-CAED19453792}">
      <dgm:prSet/>
      <dgm:spPr/>
      <dgm:t>
        <a:bodyPr/>
        <a:lstStyle/>
        <a:p>
          <a:r>
            <a:rPr lang="en-US" b="1"/>
            <a:t>Original Content Focus</a:t>
          </a:r>
          <a:endParaRPr lang="en-US"/>
        </a:p>
      </dgm:t>
    </dgm:pt>
    <dgm:pt modelId="{60062B23-C9A8-478C-B685-4CB24D84BC9E}" type="parTrans" cxnId="{6CD8C73E-189F-4AFE-A606-99D0419CD6E5}">
      <dgm:prSet/>
      <dgm:spPr/>
      <dgm:t>
        <a:bodyPr/>
        <a:lstStyle/>
        <a:p>
          <a:endParaRPr lang="en-US"/>
        </a:p>
      </dgm:t>
    </dgm:pt>
    <dgm:pt modelId="{F1BA3B7D-2BBE-475E-831D-B43AB02553C7}" type="sibTrans" cxnId="{6CD8C73E-189F-4AFE-A606-99D0419CD6E5}">
      <dgm:prSet/>
      <dgm:spPr/>
      <dgm:t>
        <a:bodyPr/>
        <a:lstStyle/>
        <a:p>
          <a:endParaRPr lang="en-US"/>
        </a:p>
      </dgm:t>
    </dgm:pt>
    <dgm:pt modelId="{0BF0C72D-7904-4E1D-B222-1FBBDA9400EE}">
      <dgm:prSet/>
      <dgm:spPr/>
      <dgm:t>
        <a:bodyPr/>
        <a:lstStyle/>
        <a:p>
          <a:r>
            <a:rPr lang="en-US"/>
            <a:t>Increasing focus on original and recent content to drive subscriber acquisition</a:t>
          </a:r>
        </a:p>
      </dgm:t>
    </dgm:pt>
    <dgm:pt modelId="{E180777C-47BE-4074-B742-60F748F3572A}" type="parTrans" cxnId="{9B020E93-38A8-48F6-B4F5-4FC5BF435631}">
      <dgm:prSet/>
      <dgm:spPr/>
      <dgm:t>
        <a:bodyPr/>
        <a:lstStyle/>
        <a:p>
          <a:endParaRPr lang="en-US"/>
        </a:p>
      </dgm:t>
    </dgm:pt>
    <dgm:pt modelId="{5DE01959-02B0-4C23-85EA-5ECA0122A9F8}" type="sibTrans" cxnId="{9B020E93-38A8-48F6-B4F5-4FC5BF435631}">
      <dgm:prSet/>
      <dgm:spPr/>
      <dgm:t>
        <a:bodyPr/>
        <a:lstStyle/>
        <a:p>
          <a:endParaRPr lang="en-US"/>
        </a:p>
      </dgm:t>
    </dgm:pt>
    <dgm:pt modelId="{9434FAF3-E64C-4512-B081-9937FAFCC210}">
      <dgm:prSet/>
      <dgm:spPr/>
      <dgm:t>
        <a:bodyPr/>
        <a:lstStyle/>
        <a:p>
          <a:r>
            <a:rPr lang="en-US" b="1"/>
            <a:t>User Expectations</a:t>
          </a:r>
          <a:endParaRPr lang="en-US"/>
        </a:p>
      </dgm:t>
    </dgm:pt>
    <dgm:pt modelId="{1940592A-44C7-41B8-957A-5B25544FED8D}" type="parTrans" cxnId="{50082628-5682-435C-A91D-46113047B21E}">
      <dgm:prSet/>
      <dgm:spPr/>
      <dgm:t>
        <a:bodyPr/>
        <a:lstStyle/>
        <a:p>
          <a:endParaRPr lang="en-US"/>
        </a:p>
      </dgm:t>
    </dgm:pt>
    <dgm:pt modelId="{77EF4FC0-92E6-437C-8304-BFE80D288B37}" type="sibTrans" cxnId="{50082628-5682-435C-A91D-46113047B21E}">
      <dgm:prSet/>
      <dgm:spPr/>
      <dgm:t>
        <a:bodyPr/>
        <a:lstStyle/>
        <a:p>
          <a:endParaRPr lang="en-US"/>
        </a:p>
      </dgm:t>
    </dgm:pt>
    <dgm:pt modelId="{E61DE5B7-15D0-43E4-85BB-1335406424DC}">
      <dgm:prSet/>
      <dgm:spPr/>
      <dgm:t>
        <a:bodyPr/>
        <a:lstStyle/>
        <a:p>
          <a:r>
            <a:rPr lang="en-US"/>
            <a:t>Users expect both diversity and high-quality premium experience across devices</a:t>
          </a:r>
        </a:p>
      </dgm:t>
    </dgm:pt>
    <dgm:pt modelId="{4CC2FA7C-3249-4B55-AC38-70EDB43F2C3F}" type="parTrans" cxnId="{A04FC1CD-7E64-41D7-B202-051F4D266814}">
      <dgm:prSet/>
      <dgm:spPr/>
      <dgm:t>
        <a:bodyPr/>
        <a:lstStyle/>
        <a:p>
          <a:endParaRPr lang="en-US"/>
        </a:p>
      </dgm:t>
    </dgm:pt>
    <dgm:pt modelId="{5EF132F0-966E-4C5F-A73A-DDAA4FCB31DB}" type="sibTrans" cxnId="{A04FC1CD-7E64-41D7-B202-051F4D266814}">
      <dgm:prSet/>
      <dgm:spPr/>
      <dgm:t>
        <a:bodyPr/>
        <a:lstStyle/>
        <a:p>
          <a:endParaRPr lang="en-US"/>
        </a:p>
      </dgm:t>
    </dgm:pt>
    <dgm:pt modelId="{F52AD313-B3B9-4377-94F9-A037D567AC72}">
      <dgm:prSet/>
      <dgm:spPr/>
      <dgm:t>
        <a:bodyPr/>
        <a:lstStyle/>
        <a:p>
          <a:r>
            <a:rPr lang="en-US" b="1"/>
            <a:t>Continuous Differentiation</a:t>
          </a:r>
          <a:endParaRPr lang="en-US"/>
        </a:p>
      </dgm:t>
    </dgm:pt>
    <dgm:pt modelId="{14082350-F001-4E85-A16E-18BDDBA97616}" type="parTrans" cxnId="{2E9BDDE0-ACE3-4ACF-9F16-2E199EBC6910}">
      <dgm:prSet/>
      <dgm:spPr/>
      <dgm:t>
        <a:bodyPr/>
        <a:lstStyle/>
        <a:p>
          <a:endParaRPr lang="en-US"/>
        </a:p>
      </dgm:t>
    </dgm:pt>
    <dgm:pt modelId="{1EAE32BE-225B-4CCC-B6BC-7BB6B72DC2E8}" type="sibTrans" cxnId="{2E9BDDE0-ACE3-4ACF-9F16-2E199EBC6910}">
      <dgm:prSet/>
      <dgm:spPr/>
      <dgm:t>
        <a:bodyPr/>
        <a:lstStyle/>
        <a:p>
          <a:endParaRPr lang="en-US"/>
        </a:p>
      </dgm:t>
    </dgm:pt>
    <dgm:pt modelId="{5F3539D6-D2AC-47EB-9632-79C6801ECE57}">
      <dgm:prSet/>
      <dgm:spPr/>
      <dgm:t>
        <a:bodyPr/>
        <a:lstStyle/>
        <a:p>
          <a:r>
            <a:rPr lang="en-US"/>
            <a:t>Competition drives continuous differentiation strategies and content innovation</a:t>
          </a:r>
        </a:p>
      </dgm:t>
    </dgm:pt>
    <dgm:pt modelId="{F700270B-1333-49DF-9624-E24EE825D5C3}" type="parTrans" cxnId="{889B1E5A-D0B9-4DDB-B393-8EC2B12440B0}">
      <dgm:prSet/>
      <dgm:spPr/>
      <dgm:t>
        <a:bodyPr/>
        <a:lstStyle/>
        <a:p>
          <a:endParaRPr lang="en-US"/>
        </a:p>
      </dgm:t>
    </dgm:pt>
    <dgm:pt modelId="{40EAE3AD-3BD5-4025-A551-8E17893D1DD6}" type="sibTrans" cxnId="{889B1E5A-D0B9-4DDB-B393-8EC2B12440B0}">
      <dgm:prSet/>
      <dgm:spPr/>
      <dgm:t>
        <a:bodyPr/>
        <a:lstStyle/>
        <a:p>
          <a:endParaRPr lang="en-US"/>
        </a:p>
      </dgm:t>
    </dgm:pt>
    <dgm:pt modelId="{2BC08869-E920-4CD0-8B94-92A1A9C57410}">
      <dgm:prSet/>
      <dgm:spPr/>
      <dgm:t>
        <a:bodyPr/>
        <a:lstStyle/>
        <a:p>
          <a:r>
            <a:rPr lang="en-US" b="1"/>
            <a:t>Strategic Context</a:t>
          </a:r>
          <a:endParaRPr lang="en-US"/>
        </a:p>
      </dgm:t>
    </dgm:pt>
    <dgm:pt modelId="{AD00E65C-AF62-4341-B715-9BEBE8367C99}" type="parTrans" cxnId="{59F8056D-2606-4EB9-9BC1-464A33B0C4B7}">
      <dgm:prSet/>
      <dgm:spPr/>
      <dgm:t>
        <a:bodyPr/>
        <a:lstStyle/>
        <a:p>
          <a:endParaRPr lang="en-US"/>
        </a:p>
      </dgm:t>
    </dgm:pt>
    <dgm:pt modelId="{91029974-F09D-41EE-BC81-8A25D46AB770}" type="sibTrans" cxnId="{59F8056D-2606-4EB9-9BC1-464A33B0C4B7}">
      <dgm:prSet/>
      <dgm:spPr/>
      <dgm:t>
        <a:bodyPr/>
        <a:lstStyle/>
        <a:p>
          <a:endParaRPr lang="en-US"/>
        </a:p>
      </dgm:t>
    </dgm:pt>
    <dgm:pt modelId="{364F87D7-6CE7-4F1E-A832-2D7EB93EFAB3}">
      <dgm:prSet/>
      <dgm:spPr/>
      <dgm:t>
        <a:bodyPr/>
        <a:lstStyle/>
        <a:p>
          <a:r>
            <a:rPr lang="en-US"/>
            <a:t>Market characterized by high customer acquisition costs and retention pressure</a:t>
          </a:r>
        </a:p>
      </dgm:t>
    </dgm:pt>
    <dgm:pt modelId="{72A3C388-43F0-458F-97D2-2C68EAC3B797}" type="parTrans" cxnId="{62DE235E-33E1-4CF9-B910-C1E35CF69DE3}">
      <dgm:prSet/>
      <dgm:spPr/>
      <dgm:t>
        <a:bodyPr/>
        <a:lstStyle/>
        <a:p>
          <a:endParaRPr lang="en-US"/>
        </a:p>
      </dgm:t>
    </dgm:pt>
    <dgm:pt modelId="{9BE44725-00AF-4B76-9C0F-BB7659710821}" type="sibTrans" cxnId="{62DE235E-33E1-4CF9-B910-C1E35CF69DE3}">
      <dgm:prSet/>
      <dgm:spPr/>
      <dgm:t>
        <a:bodyPr/>
        <a:lstStyle/>
        <a:p>
          <a:endParaRPr lang="en-US"/>
        </a:p>
      </dgm:t>
    </dgm:pt>
    <dgm:pt modelId="{4929B7F0-5F6E-4E4B-A85E-99251958CE47}" type="pres">
      <dgm:prSet presAssocID="{7B12F30F-D0D3-4B6C-9F2B-56C001C16F2C}" presName="linear" presStyleCnt="0">
        <dgm:presLayoutVars>
          <dgm:animLvl val="lvl"/>
          <dgm:resizeHandles val="exact"/>
        </dgm:presLayoutVars>
      </dgm:prSet>
      <dgm:spPr/>
    </dgm:pt>
    <dgm:pt modelId="{CF3F84CA-2594-4A09-B28D-4EE81484B7C1}" type="pres">
      <dgm:prSet presAssocID="{880DA619-EB87-4B23-8442-6BA486BB083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24D22DD-1CA1-4B87-B23C-728E0037B9CD}" type="pres">
      <dgm:prSet presAssocID="{880DA619-EB87-4B23-8442-6BA486BB083E}" presName="childText" presStyleLbl="revTx" presStyleIdx="0" presStyleCnt="5">
        <dgm:presLayoutVars>
          <dgm:bulletEnabled val="1"/>
        </dgm:presLayoutVars>
      </dgm:prSet>
      <dgm:spPr/>
    </dgm:pt>
    <dgm:pt modelId="{8BA7EDD7-14C1-4DA0-9AC5-1F0F16A273F7}" type="pres">
      <dgm:prSet presAssocID="{EF785194-A1C0-4372-A8C5-CAED1945379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D762DEB-A0A9-4A41-91E2-7CDE38BE58B3}" type="pres">
      <dgm:prSet presAssocID="{EF785194-A1C0-4372-A8C5-CAED19453792}" presName="childText" presStyleLbl="revTx" presStyleIdx="1" presStyleCnt="5">
        <dgm:presLayoutVars>
          <dgm:bulletEnabled val="1"/>
        </dgm:presLayoutVars>
      </dgm:prSet>
      <dgm:spPr/>
    </dgm:pt>
    <dgm:pt modelId="{F9D5D608-35A0-4F4D-BD64-E34E8CCA1325}" type="pres">
      <dgm:prSet presAssocID="{9434FAF3-E64C-4512-B081-9937FAFCC21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2827AB-15CE-4005-B514-2F6D2115465F}" type="pres">
      <dgm:prSet presAssocID="{9434FAF3-E64C-4512-B081-9937FAFCC210}" presName="childText" presStyleLbl="revTx" presStyleIdx="2" presStyleCnt="5">
        <dgm:presLayoutVars>
          <dgm:bulletEnabled val="1"/>
        </dgm:presLayoutVars>
      </dgm:prSet>
      <dgm:spPr/>
    </dgm:pt>
    <dgm:pt modelId="{1FC033CD-C82F-4BC6-89C0-36555ADF569E}" type="pres">
      <dgm:prSet presAssocID="{F52AD313-B3B9-4377-94F9-A037D567AC7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AEAEE53-E448-4800-B1AE-588B3A4E055F}" type="pres">
      <dgm:prSet presAssocID="{F52AD313-B3B9-4377-94F9-A037D567AC72}" presName="childText" presStyleLbl="revTx" presStyleIdx="3" presStyleCnt="5">
        <dgm:presLayoutVars>
          <dgm:bulletEnabled val="1"/>
        </dgm:presLayoutVars>
      </dgm:prSet>
      <dgm:spPr/>
    </dgm:pt>
    <dgm:pt modelId="{1122398B-FBCE-4703-B79E-5E4A5FC8EC03}" type="pres">
      <dgm:prSet presAssocID="{2BC08869-E920-4CD0-8B94-92A1A9C5741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7F26A07-D7A4-4CCB-AFFA-D3E76E28DEEB}" type="pres">
      <dgm:prSet presAssocID="{2BC08869-E920-4CD0-8B94-92A1A9C57410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E244FC12-0661-4437-94BA-750F37B2BF0F}" type="presOf" srcId="{F52AD313-B3B9-4377-94F9-A037D567AC72}" destId="{1FC033CD-C82F-4BC6-89C0-36555ADF569E}" srcOrd="0" destOrd="0" presId="urn:microsoft.com/office/officeart/2005/8/layout/vList2"/>
    <dgm:cxn modelId="{9ABA3814-9423-41A2-8D30-0AC3E5F03E2C}" srcId="{880DA619-EB87-4B23-8442-6BA486BB083E}" destId="{12219426-6E82-43CA-83EA-104116D231E5}" srcOrd="0" destOrd="0" parTransId="{BAC22320-2B1A-4E26-9086-90B27221159F}" sibTransId="{BB7CAD11-274D-4F34-BFDD-7F91C8F3187B}"/>
    <dgm:cxn modelId="{50082628-5682-435C-A91D-46113047B21E}" srcId="{7B12F30F-D0D3-4B6C-9F2B-56C001C16F2C}" destId="{9434FAF3-E64C-4512-B081-9937FAFCC210}" srcOrd="2" destOrd="0" parTransId="{1940592A-44C7-41B8-957A-5B25544FED8D}" sibTransId="{77EF4FC0-92E6-437C-8304-BFE80D288B37}"/>
    <dgm:cxn modelId="{6CD8C73E-189F-4AFE-A606-99D0419CD6E5}" srcId="{7B12F30F-D0D3-4B6C-9F2B-56C001C16F2C}" destId="{EF785194-A1C0-4372-A8C5-CAED19453792}" srcOrd="1" destOrd="0" parTransId="{60062B23-C9A8-478C-B685-4CB24D84BC9E}" sibTransId="{F1BA3B7D-2BBE-475E-831D-B43AB02553C7}"/>
    <dgm:cxn modelId="{28D3715B-BEC4-444D-99A5-70CC07F4EF17}" srcId="{7B12F30F-D0D3-4B6C-9F2B-56C001C16F2C}" destId="{880DA619-EB87-4B23-8442-6BA486BB083E}" srcOrd="0" destOrd="0" parTransId="{9A7FEB50-5D11-4667-8808-2885F22BC6F4}" sibTransId="{99ADBF27-9853-493A-B796-881585C8A311}"/>
    <dgm:cxn modelId="{62DE235E-33E1-4CF9-B910-C1E35CF69DE3}" srcId="{2BC08869-E920-4CD0-8B94-92A1A9C57410}" destId="{364F87D7-6CE7-4F1E-A832-2D7EB93EFAB3}" srcOrd="0" destOrd="0" parTransId="{72A3C388-43F0-458F-97D2-2C68EAC3B797}" sibTransId="{9BE44725-00AF-4B76-9C0F-BB7659710821}"/>
    <dgm:cxn modelId="{9DF16064-2840-4BEF-A9C4-1D1605CA5A1F}" type="presOf" srcId="{0BF0C72D-7904-4E1D-B222-1FBBDA9400EE}" destId="{CD762DEB-A0A9-4A41-91E2-7CDE38BE58B3}" srcOrd="0" destOrd="0" presId="urn:microsoft.com/office/officeart/2005/8/layout/vList2"/>
    <dgm:cxn modelId="{59F8056D-2606-4EB9-9BC1-464A33B0C4B7}" srcId="{7B12F30F-D0D3-4B6C-9F2B-56C001C16F2C}" destId="{2BC08869-E920-4CD0-8B94-92A1A9C57410}" srcOrd="4" destOrd="0" parTransId="{AD00E65C-AF62-4341-B715-9BEBE8367C99}" sibTransId="{91029974-F09D-41EE-BC81-8A25D46AB770}"/>
    <dgm:cxn modelId="{F7C9386E-4D7F-449A-B6C3-519289807700}" type="presOf" srcId="{2BC08869-E920-4CD0-8B94-92A1A9C57410}" destId="{1122398B-FBCE-4703-B79E-5E4A5FC8EC03}" srcOrd="0" destOrd="0" presId="urn:microsoft.com/office/officeart/2005/8/layout/vList2"/>
    <dgm:cxn modelId="{ADAA8D52-E951-4DBB-A65E-5126E2410D34}" type="presOf" srcId="{880DA619-EB87-4B23-8442-6BA486BB083E}" destId="{CF3F84CA-2594-4A09-B28D-4EE81484B7C1}" srcOrd="0" destOrd="0" presId="urn:microsoft.com/office/officeart/2005/8/layout/vList2"/>
    <dgm:cxn modelId="{96216677-8408-44A6-A007-63166B728DD5}" type="presOf" srcId="{E61DE5B7-15D0-43E4-85BB-1335406424DC}" destId="{9B2827AB-15CE-4005-B514-2F6D2115465F}" srcOrd="0" destOrd="0" presId="urn:microsoft.com/office/officeart/2005/8/layout/vList2"/>
    <dgm:cxn modelId="{864F4C78-4C7D-4714-8C39-58F081AEAD0F}" type="presOf" srcId="{364F87D7-6CE7-4F1E-A832-2D7EB93EFAB3}" destId="{97F26A07-D7A4-4CCB-AFFA-D3E76E28DEEB}" srcOrd="0" destOrd="0" presId="urn:microsoft.com/office/officeart/2005/8/layout/vList2"/>
    <dgm:cxn modelId="{0F59D778-DF70-469E-9962-8B088BB6F104}" type="presOf" srcId="{12219426-6E82-43CA-83EA-104116D231E5}" destId="{924D22DD-1CA1-4B87-B23C-728E0037B9CD}" srcOrd="0" destOrd="0" presId="urn:microsoft.com/office/officeart/2005/8/layout/vList2"/>
    <dgm:cxn modelId="{889B1E5A-D0B9-4DDB-B393-8EC2B12440B0}" srcId="{F52AD313-B3B9-4377-94F9-A037D567AC72}" destId="{5F3539D6-D2AC-47EB-9632-79C6801ECE57}" srcOrd="0" destOrd="0" parTransId="{F700270B-1333-49DF-9624-E24EE825D5C3}" sibTransId="{40EAE3AD-3BD5-4025-A551-8E17893D1DD6}"/>
    <dgm:cxn modelId="{471E437C-47F6-40C9-9066-01A5FBA2DB6A}" type="presOf" srcId="{7B12F30F-D0D3-4B6C-9F2B-56C001C16F2C}" destId="{4929B7F0-5F6E-4E4B-A85E-99251958CE47}" srcOrd="0" destOrd="0" presId="urn:microsoft.com/office/officeart/2005/8/layout/vList2"/>
    <dgm:cxn modelId="{DBB5317E-B127-44A0-92B2-F3E5E08D59DD}" type="presOf" srcId="{9434FAF3-E64C-4512-B081-9937FAFCC210}" destId="{F9D5D608-35A0-4F4D-BD64-E34E8CCA1325}" srcOrd="0" destOrd="0" presId="urn:microsoft.com/office/officeart/2005/8/layout/vList2"/>
    <dgm:cxn modelId="{9B020E93-38A8-48F6-B4F5-4FC5BF435631}" srcId="{EF785194-A1C0-4372-A8C5-CAED19453792}" destId="{0BF0C72D-7904-4E1D-B222-1FBBDA9400EE}" srcOrd="0" destOrd="0" parTransId="{E180777C-47BE-4074-B742-60F748F3572A}" sibTransId="{5DE01959-02B0-4C23-85EA-5ECA0122A9F8}"/>
    <dgm:cxn modelId="{FD3C01A8-0115-486F-9EB4-4E00610A44CC}" type="presOf" srcId="{5F3539D6-D2AC-47EB-9632-79C6801ECE57}" destId="{EAEAEE53-E448-4800-B1AE-588B3A4E055F}" srcOrd="0" destOrd="0" presId="urn:microsoft.com/office/officeart/2005/8/layout/vList2"/>
    <dgm:cxn modelId="{67266CC5-28AF-4096-89D8-10B64F17DAEF}" type="presOf" srcId="{EF785194-A1C0-4372-A8C5-CAED19453792}" destId="{8BA7EDD7-14C1-4DA0-9AC5-1F0F16A273F7}" srcOrd="0" destOrd="0" presId="urn:microsoft.com/office/officeart/2005/8/layout/vList2"/>
    <dgm:cxn modelId="{A04FC1CD-7E64-41D7-B202-051F4D266814}" srcId="{9434FAF3-E64C-4512-B081-9937FAFCC210}" destId="{E61DE5B7-15D0-43E4-85BB-1335406424DC}" srcOrd="0" destOrd="0" parTransId="{4CC2FA7C-3249-4B55-AC38-70EDB43F2C3F}" sibTransId="{5EF132F0-966E-4C5F-A73A-DDAA4FCB31DB}"/>
    <dgm:cxn modelId="{2E9BDDE0-ACE3-4ACF-9F16-2E199EBC6910}" srcId="{7B12F30F-D0D3-4B6C-9F2B-56C001C16F2C}" destId="{F52AD313-B3B9-4377-94F9-A037D567AC72}" srcOrd="3" destOrd="0" parTransId="{14082350-F001-4E85-A16E-18BDDBA97616}" sibTransId="{1EAE32BE-225B-4CCC-B6BC-7BB6B72DC2E8}"/>
    <dgm:cxn modelId="{6331055B-EB6B-43FE-BF77-9E60FD4BC150}" type="presParOf" srcId="{4929B7F0-5F6E-4E4B-A85E-99251958CE47}" destId="{CF3F84CA-2594-4A09-B28D-4EE81484B7C1}" srcOrd="0" destOrd="0" presId="urn:microsoft.com/office/officeart/2005/8/layout/vList2"/>
    <dgm:cxn modelId="{B661DFFD-1B4F-4E01-A272-C807FA711E34}" type="presParOf" srcId="{4929B7F0-5F6E-4E4B-A85E-99251958CE47}" destId="{924D22DD-1CA1-4B87-B23C-728E0037B9CD}" srcOrd="1" destOrd="0" presId="urn:microsoft.com/office/officeart/2005/8/layout/vList2"/>
    <dgm:cxn modelId="{921989EC-29E8-4CA4-9675-7F5107AD5CC8}" type="presParOf" srcId="{4929B7F0-5F6E-4E4B-A85E-99251958CE47}" destId="{8BA7EDD7-14C1-4DA0-9AC5-1F0F16A273F7}" srcOrd="2" destOrd="0" presId="urn:microsoft.com/office/officeart/2005/8/layout/vList2"/>
    <dgm:cxn modelId="{C6D53836-84BC-4B5B-A7BC-5AB38D5D49F2}" type="presParOf" srcId="{4929B7F0-5F6E-4E4B-A85E-99251958CE47}" destId="{CD762DEB-A0A9-4A41-91E2-7CDE38BE58B3}" srcOrd="3" destOrd="0" presId="urn:microsoft.com/office/officeart/2005/8/layout/vList2"/>
    <dgm:cxn modelId="{74E97FA0-4CAD-42A5-9A27-97DA2663CE9F}" type="presParOf" srcId="{4929B7F0-5F6E-4E4B-A85E-99251958CE47}" destId="{F9D5D608-35A0-4F4D-BD64-E34E8CCA1325}" srcOrd="4" destOrd="0" presId="urn:microsoft.com/office/officeart/2005/8/layout/vList2"/>
    <dgm:cxn modelId="{F6A03EE3-0968-42B4-9092-2FBC6089F9EE}" type="presParOf" srcId="{4929B7F0-5F6E-4E4B-A85E-99251958CE47}" destId="{9B2827AB-15CE-4005-B514-2F6D2115465F}" srcOrd="5" destOrd="0" presId="urn:microsoft.com/office/officeart/2005/8/layout/vList2"/>
    <dgm:cxn modelId="{26094AB5-151B-4BC3-A03F-3B114EFB9E2F}" type="presParOf" srcId="{4929B7F0-5F6E-4E4B-A85E-99251958CE47}" destId="{1FC033CD-C82F-4BC6-89C0-36555ADF569E}" srcOrd="6" destOrd="0" presId="urn:microsoft.com/office/officeart/2005/8/layout/vList2"/>
    <dgm:cxn modelId="{C9CC82DA-8B9A-44E2-B717-1904F442818E}" type="presParOf" srcId="{4929B7F0-5F6E-4E4B-A85E-99251958CE47}" destId="{EAEAEE53-E448-4800-B1AE-588B3A4E055F}" srcOrd="7" destOrd="0" presId="urn:microsoft.com/office/officeart/2005/8/layout/vList2"/>
    <dgm:cxn modelId="{F42CDA85-6045-442E-ADB7-A799336D7B14}" type="presParOf" srcId="{4929B7F0-5F6E-4E4B-A85E-99251958CE47}" destId="{1122398B-FBCE-4703-B79E-5E4A5FC8EC03}" srcOrd="8" destOrd="0" presId="urn:microsoft.com/office/officeart/2005/8/layout/vList2"/>
    <dgm:cxn modelId="{C2B7C391-4D56-4467-9844-EF309D9B8672}" type="presParOf" srcId="{4929B7F0-5F6E-4E4B-A85E-99251958CE47}" destId="{97F26A07-D7A4-4CCB-AFFA-D3E76E28DEEB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F84CA-2594-4A09-B28D-4EE81484B7C1}">
      <dsp:nvSpPr>
        <dsp:cNvPr id="0" name=""/>
        <dsp:cNvSpPr/>
      </dsp:nvSpPr>
      <dsp:spPr>
        <a:xfrm>
          <a:off x="0" y="44586"/>
          <a:ext cx="4818888" cy="3439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Content as Differentiator</a:t>
          </a:r>
          <a:endParaRPr lang="en-US" sz="1400" kern="1200"/>
        </a:p>
      </dsp:txBody>
      <dsp:txXfrm>
        <a:off x="16792" y="61378"/>
        <a:ext cx="4785304" cy="310396"/>
      </dsp:txXfrm>
    </dsp:sp>
    <dsp:sp modelId="{924D22DD-1CA1-4B87-B23C-728E0037B9CD}">
      <dsp:nvSpPr>
        <dsp:cNvPr id="0" name=""/>
        <dsp:cNvSpPr/>
      </dsp:nvSpPr>
      <dsp:spPr>
        <a:xfrm>
          <a:off x="0" y="388566"/>
          <a:ext cx="4818888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00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Platforms compete using content volume, variety, and quality as key differentiators</a:t>
          </a:r>
        </a:p>
      </dsp:txBody>
      <dsp:txXfrm>
        <a:off x="0" y="388566"/>
        <a:ext cx="4818888" cy="347760"/>
      </dsp:txXfrm>
    </dsp:sp>
    <dsp:sp modelId="{8BA7EDD7-14C1-4DA0-9AC5-1F0F16A273F7}">
      <dsp:nvSpPr>
        <dsp:cNvPr id="0" name=""/>
        <dsp:cNvSpPr/>
      </dsp:nvSpPr>
      <dsp:spPr>
        <a:xfrm>
          <a:off x="0" y="736326"/>
          <a:ext cx="4818888" cy="3439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Original Content Focus</a:t>
          </a:r>
          <a:endParaRPr lang="en-US" sz="1400" kern="1200"/>
        </a:p>
      </dsp:txBody>
      <dsp:txXfrm>
        <a:off x="16792" y="753118"/>
        <a:ext cx="4785304" cy="310396"/>
      </dsp:txXfrm>
    </dsp:sp>
    <dsp:sp modelId="{CD762DEB-A0A9-4A41-91E2-7CDE38BE58B3}">
      <dsp:nvSpPr>
        <dsp:cNvPr id="0" name=""/>
        <dsp:cNvSpPr/>
      </dsp:nvSpPr>
      <dsp:spPr>
        <a:xfrm>
          <a:off x="0" y="1080306"/>
          <a:ext cx="4818888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00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Increasing focus on original and recent content to drive subscriber acquisition</a:t>
          </a:r>
        </a:p>
      </dsp:txBody>
      <dsp:txXfrm>
        <a:off x="0" y="1080306"/>
        <a:ext cx="4818888" cy="347760"/>
      </dsp:txXfrm>
    </dsp:sp>
    <dsp:sp modelId="{F9D5D608-35A0-4F4D-BD64-E34E8CCA1325}">
      <dsp:nvSpPr>
        <dsp:cNvPr id="0" name=""/>
        <dsp:cNvSpPr/>
      </dsp:nvSpPr>
      <dsp:spPr>
        <a:xfrm>
          <a:off x="0" y="1428066"/>
          <a:ext cx="4818888" cy="3439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User Expectations</a:t>
          </a:r>
          <a:endParaRPr lang="en-US" sz="1400" kern="1200"/>
        </a:p>
      </dsp:txBody>
      <dsp:txXfrm>
        <a:off x="16792" y="1444858"/>
        <a:ext cx="4785304" cy="310396"/>
      </dsp:txXfrm>
    </dsp:sp>
    <dsp:sp modelId="{9B2827AB-15CE-4005-B514-2F6D2115465F}">
      <dsp:nvSpPr>
        <dsp:cNvPr id="0" name=""/>
        <dsp:cNvSpPr/>
      </dsp:nvSpPr>
      <dsp:spPr>
        <a:xfrm>
          <a:off x="0" y="1772046"/>
          <a:ext cx="4818888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00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Users expect both diversity and high-quality premium experience across devices</a:t>
          </a:r>
        </a:p>
      </dsp:txBody>
      <dsp:txXfrm>
        <a:off x="0" y="1772046"/>
        <a:ext cx="4818888" cy="347760"/>
      </dsp:txXfrm>
    </dsp:sp>
    <dsp:sp modelId="{1FC033CD-C82F-4BC6-89C0-36555ADF569E}">
      <dsp:nvSpPr>
        <dsp:cNvPr id="0" name=""/>
        <dsp:cNvSpPr/>
      </dsp:nvSpPr>
      <dsp:spPr>
        <a:xfrm>
          <a:off x="0" y="2119806"/>
          <a:ext cx="4818888" cy="3439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Continuous Differentiation</a:t>
          </a:r>
          <a:endParaRPr lang="en-US" sz="1400" kern="1200"/>
        </a:p>
      </dsp:txBody>
      <dsp:txXfrm>
        <a:off x="16792" y="2136598"/>
        <a:ext cx="4785304" cy="310396"/>
      </dsp:txXfrm>
    </dsp:sp>
    <dsp:sp modelId="{EAEAEE53-E448-4800-B1AE-588B3A4E055F}">
      <dsp:nvSpPr>
        <dsp:cNvPr id="0" name=""/>
        <dsp:cNvSpPr/>
      </dsp:nvSpPr>
      <dsp:spPr>
        <a:xfrm>
          <a:off x="0" y="2463786"/>
          <a:ext cx="4818888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00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Competition drives continuous differentiation strategies and content innovation</a:t>
          </a:r>
        </a:p>
      </dsp:txBody>
      <dsp:txXfrm>
        <a:off x="0" y="2463786"/>
        <a:ext cx="4818888" cy="347760"/>
      </dsp:txXfrm>
    </dsp:sp>
    <dsp:sp modelId="{1122398B-FBCE-4703-B79E-5E4A5FC8EC03}">
      <dsp:nvSpPr>
        <dsp:cNvPr id="0" name=""/>
        <dsp:cNvSpPr/>
      </dsp:nvSpPr>
      <dsp:spPr>
        <a:xfrm>
          <a:off x="0" y="2811546"/>
          <a:ext cx="4818888" cy="3439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Strategic Context</a:t>
          </a:r>
          <a:endParaRPr lang="en-US" sz="1400" kern="1200"/>
        </a:p>
      </dsp:txBody>
      <dsp:txXfrm>
        <a:off x="16792" y="2828338"/>
        <a:ext cx="4785304" cy="310396"/>
      </dsp:txXfrm>
    </dsp:sp>
    <dsp:sp modelId="{97F26A07-D7A4-4CCB-AFFA-D3E76E28DEEB}">
      <dsp:nvSpPr>
        <dsp:cNvPr id="0" name=""/>
        <dsp:cNvSpPr/>
      </dsp:nvSpPr>
      <dsp:spPr>
        <a:xfrm>
          <a:off x="0" y="3155526"/>
          <a:ext cx="4818888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00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Market characterized by high customer acquisition costs and retention pressure</a:t>
          </a:r>
        </a:p>
      </dsp:txBody>
      <dsp:txXfrm>
        <a:off x="0" y="3155526"/>
        <a:ext cx="4818888" cy="347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8B0E-F887-0C64-DBF3-26B600EF6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8B1F0-A20F-27B2-213E-189E89694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7EB4F-7E64-43BE-61EC-3169B7C1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A40D9-D861-BF9E-8C94-369BE24B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4C58D-9F25-17E7-966F-6B86ECB3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5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F95C-63F1-718A-A9D6-BA8FB7C1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AAC50-86F0-F78F-F941-C96610749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075AE-9E83-0023-D541-EBA8A9D3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4F2D6-B53E-D680-F696-A19A5013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68992-8FE1-FD9C-B127-92F23513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5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ED7C-C43A-3B52-9730-82BE70B46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5765E-102E-18B6-6892-54E673635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F4F4B-7DBE-D3AE-5F42-ABDB2344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F4415-7E11-15E6-7192-C0025A0A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6CF56-95A3-62BA-B3BE-37996937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8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6A18-AAAF-19CE-9562-CE2EBE40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A2F36-4DB4-9AA3-D3E4-A006DDFF4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873B-1C8C-A2B4-E8A6-2C9C6A5A9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11EB9-4E53-C24E-139B-7D5DFBCD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1613C-6D8B-F3A1-9239-86548CF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614C6-B5C0-5D37-9CEF-806B4DB6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2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3077-FCE1-62C1-9A73-4B42DD405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749AF-EBE1-A1BA-7D40-24C9469E3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922F2-FE50-28F8-A582-AF715007B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9C5A2-A244-0B68-F926-02BA15839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3E2C5-81D4-6F84-6CCC-2F8E6A32B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D0252-60F4-B078-1D71-33B32BC99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739A9-A7D9-18D6-6DDF-8CF9CAFD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0E8A5-8DCD-6C73-7DEC-8E5028B3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41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AE86-E983-B78C-3179-9FB45A9E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69523-C2AA-AA49-64DA-41B55E4A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E2262-1215-CA77-6AC4-E0530AB3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12F5A-5719-8FD1-57F2-CB5809CE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6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89FE4-2241-BF7F-3451-080CFE70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35B4A-E389-00E9-7463-254B2835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94D4C-5771-ABE0-894F-D995FD8F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8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E9CB8-75A9-A120-9CB4-8872CE1B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C4B5C-9CF1-D062-0D75-1E919E816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EB8FF-6DF2-B7B9-ACC4-50F974D19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9267F-C8B7-F4B1-679C-4B63D9D6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0B924-D27E-7C6F-F577-30C92799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A932C-D5A5-FEA7-E760-8DAD82D7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6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9A01-CF09-ABD5-4832-A6DD9CF0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C47608-6720-6039-9439-09E64F981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D4BCE-56E9-9BBF-5B20-B696E40F1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2E90D-85F6-3E24-31A1-EB2576B1C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A4A12-8531-881A-D998-0DE10A33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96036-D671-C9ED-6A82-AF157ACC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6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50A2-E18E-685D-E31F-A4469BD03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F1BF8-07CE-6784-CE22-03AB62337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3662B-39D1-E543-4D3B-99EED27F3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E6FD6-8ECD-D56B-DCC3-3A5CB93D5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027E5-4140-7059-5C16-E309E05D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9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CB1A1-AEF6-ED77-7577-4C739FA5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411D7-8E2C-91FD-70EB-4A9C00F7D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F7D0A-A603-AD38-358F-8F3ADCD6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C4B52-1C2D-835C-CCD2-068C2CBA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C5273-8E8A-6018-2E12-B36538B4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7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D7B85-8287-44A6-41F3-5880F558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6AFD0-57E5-4D67-D045-172468B5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474F6-C267-44F7-0B00-B65856D87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C02D7-0802-4CCC-ABEF-D7DC970D25A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09439-B1DC-2D4D-6A03-35089DE78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56469-50F0-54DA-BAA9-C3796FC27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27D692-1B67-4AF1-B226-D6754A3CD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4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businessofapps.com/data/netflix-statistic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5DD89-E719-4055-20B8-9279C404C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n-US" sz="6100" b="1"/>
              <a:t>Streaming Platform Strategy Analysis</a:t>
            </a:r>
            <a:endParaRPr lang="en-US" sz="6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9974D-1553-7048-82ED-4F5D0D811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3571810" cy="1559327"/>
          </a:xfrm>
        </p:spPr>
        <p:txBody>
          <a:bodyPr>
            <a:normAutofit/>
          </a:bodyPr>
          <a:lstStyle/>
          <a:p>
            <a:pPr algn="l"/>
            <a:r>
              <a:rPr lang="en-US" sz="2200"/>
              <a:t>A Data-Driven Analysis of Netflix's Content Strategy</a:t>
            </a:r>
          </a:p>
          <a:p>
            <a:pPr algn="l"/>
            <a:endParaRPr lang="en-US" sz="2200"/>
          </a:p>
          <a:p>
            <a:pPr algn="l"/>
            <a:r>
              <a:rPr lang="en-US" sz="2200"/>
              <a:t>Thrisha Jawahar</a:t>
            </a: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3B525B-FA3A-D937-DBEF-ADB8FE5D9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69735"/>
            <a:ext cx="7214616" cy="4491098"/>
          </a:xfrm>
          <a:prstGeom prst="rect">
            <a:avLst/>
          </a:prstGeom>
        </p:spPr>
      </p:pic>
      <p:sp>
        <p:nvSpPr>
          <p:cNvPr id="6" name="AutoShape 2" descr="The Impact of Streaming Services on the Entertainment Industry">
            <a:extLst>
              <a:ext uri="{FF2B5EF4-FFF2-40B4-BE49-F238E27FC236}">
                <a16:creationId xmlns:a16="http://schemas.microsoft.com/office/drawing/2014/main" id="{8A57719C-5CCC-2660-0FC1-5EF1A82E28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3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CC2B0-CA30-3690-1CCF-26777433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2200" b="1"/>
              <a:t>The Streaming Industry Operates in a Content-Driven, Hyper-Competitive Landscape</a:t>
            </a:r>
            <a:br>
              <a:rPr lang="en-US" sz="2200" b="1"/>
            </a:br>
            <a:endParaRPr lang="en-US" sz="2200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9BF1F1-DFB5-6377-420B-D0C289E328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21" r="19226" b="-1"/>
          <a:stretch>
            <a:fillRect/>
          </a:stretch>
        </p:blipFill>
        <p:spPr>
          <a:xfrm>
            <a:off x="6099048" y="707765"/>
            <a:ext cx="5458968" cy="544247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5B7825-DE92-AB6F-BEF1-F8418C29B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533166"/>
              </p:ext>
            </p:extLst>
          </p:nvPr>
        </p:nvGraphicFramePr>
        <p:xfrm>
          <a:off x="630936" y="2660904"/>
          <a:ext cx="4818888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01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30" name="Rectangle 922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B6899-1E6E-AE76-1119-F1DD3D5F6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/>
              <a:t>Platform Analysis: Netflix </a:t>
            </a:r>
          </a:p>
        </p:txBody>
      </p:sp>
      <p:sp>
        <p:nvSpPr>
          <p:cNvPr id="923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88AAF-58C6-0427-DC3A-BFE027C8A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/>
              <a:t>Netflix operates a high-volume global strategy.</a:t>
            </a:r>
          </a:p>
          <a:p>
            <a:pPr lvl="1"/>
            <a:r>
              <a:rPr lang="en-US" sz="1700"/>
              <a:t>277M subscribers globally (2024)</a:t>
            </a:r>
          </a:p>
          <a:p>
            <a:pPr lvl="1"/>
            <a:r>
              <a:rPr lang="en-US" sz="1700"/>
              <a:t>Large and diverse content catalog</a:t>
            </a:r>
          </a:p>
          <a:p>
            <a:pPr lvl="1"/>
            <a:r>
              <a:rPr lang="en-US" sz="1700"/>
              <a:t>Movie-heavy platform compared to TV</a:t>
            </a:r>
          </a:p>
          <a:p>
            <a:pPr lvl="1"/>
            <a:r>
              <a:rPr lang="en-US" sz="1700"/>
              <a:t>Global presence across multiple regions</a:t>
            </a:r>
          </a:p>
          <a:p>
            <a:pPr marL="0" indent="0">
              <a:buNone/>
            </a:pPr>
            <a:r>
              <a:rPr lang="en-US" sz="1700"/>
              <a:t>Key Takeaway: Netflix prioritizes scale and reach to dominate the market</a:t>
            </a:r>
          </a:p>
        </p:txBody>
      </p:sp>
      <p:pic>
        <p:nvPicPr>
          <p:cNvPr id="9220" name="Picture 4" descr="50.000+ kostenlose Symbole Netflix und Netflix-Bilder - Pixabay">
            <a:extLst>
              <a:ext uri="{FF2B5EF4-FFF2-40B4-BE49-F238E27FC236}">
                <a16:creationId xmlns:a16="http://schemas.microsoft.com/office/drawing/2014/main" id="{C6FC41D0-A81C-C005-66C6-3BAB7E759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2" r="16885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871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F2B10-DDF5-0D5C-A597-B25B129B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 dirty="0"/>
              <a:t>Key Insight 1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6E9FF-61C9-F5F3-33E6-279014606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One of the largest content libraries</a:t>
            </a:r>
          </a:p>
          <a:p>
            <a:r>
              <a:rPr lang="en-US" sz="2200"/>
              <a:t>Covers multiple genres and audience segments</a:t>
            </a:r>
          </a:p>
          <a:p>
            <a:r>
              <a:rPr lang="en-US" sz="2200"/>
              <a:t>Ensures constant content availability</a:t>
            </a:r>
          </a:p>
          <a:p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Takeaway: High volume drives engagement and audience reach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D5D2C4A-A6E0-D09C-C2F2-FC8F54115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900489"/>
            <a:ext cx="5458968" cy="305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33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86861-5E34-866B-C93C-F8D459F0F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Key Insight 2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8D1DF-1D0B-4DE5-8C25-4F6584E4E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/>
              <a:t>Content is concentrated in mainstream genres.</a:t>
            </a:r>
          </a:p>
          <a:p>
            <a:r>
              <a:rPr lang="en-US" sz="1900"/>
              <a:t>Top Dramas: </a:t>
            </a:r>
          </a:p>
          <a:p>
            <a:pPr lvl="1"/>
            <a:r>
              <a:rPr lang="en-US" sz="1900"/>
              <a:t>Drama</a:t>
            </a:r>
          </a:p>
          <a:p>
            <a:pPr lvl="1"/>
            <a:r>
              <a:rPr lang="en-US" sz="1900"/>
              <a:t>Comedy </a:t>
            </a:r>
          </a:p>
          <a:p>
            <a:pPr lvl="1"/>
            <a:r>
              <a:rPr lang="en-US" sz="1900"/>
              <a:t>Reality</a:t>
            </a:r>
          </a:p>
          <a:p>
            <a:r>
              <a:rPr lang="en-US" sz="1900"/>
              <a:t>Limited representation of niche genres.</a:t>
            </a:r>
          </a:p>
          <a:p>
            <a:r>
              <a:rPr lang="en-US" sz="1900"/>
              <a:t>Overlap with competitor content strategy.</a:t>
            </a:r>
          </a:p>
          <a:p>
            <a:pPr marL="0" indent="0">
              <a:buNone/>
            </a:pPr>
            <a:r>
              <a:rPr lang="en-US" sz="1900"/>
              <a:t>Takeaway: Netflix focuses on mass appeal rather than niche differentiation.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AD346-74B5-2ADF-42C8-8EE9370989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301"/>
          <a:stretch>
            <a:fillRect/>
          </a:stretch>
        </p:blipFill>
        <p:spPr>
          <a:xfrm>
            <a:off x="6099048" y="707760"/>
            <a:ext cx="5458968" cy="544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1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EAA216-4E6C-A608-8D2D-32F83CBB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Key Insight 3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9237E-CF81-73CE-14DB-A43B726AE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Netflix emphasizes modern content.</a:t>
            </a:r>
          </a:p>
          <a:p>
            <a:r>
              <a:rPr lang="en-US" sz="2000"/>
              <a:t>Majority of titles released after 2015</a:t>
            </a:r>
          </a:p>
          <a:p>
            <a:r>
              <a:rPr lang="en-US" sz="2000"/>
              <a:t>Continuous addition of new content</a:t>
            </a:r>
          </a:p>
          <a:p>
            <a:r>
              <a:rPr lang="en-US" sz="2000"/>
              <a:t>Strong focus on recent releases</a:t>
            </a:r>
          </a:p>
          <a:p>
            <a:pPr marL="0" indent="0">
              <a:buNone/>
            </a:pPr>
            <a:r>
              <a:rPr lang="en-US" sz="2000"/>
              <a:t>Takeaway: Modern content increases relevance and retention.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7DD657-E5F2-13FF-F806-D10678FCA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0" r="15857" b="-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76625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CF5C8-1EFA-DBE5-6213-BE6814CA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Key Insight 4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404D2-E1B5-2723-67CA-F9A6EC744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Content quality is consistent but varies.</a:t>
            </a:r>
          </a:p>
          <a:p>
            <a:r>
              <a:rPr lang="en-US" sz="2200"/>
              <a:t>Ratings mostly between 6-7</a:t>
            </a:r>
          </a:p>
          <a:p>
            <a:r>
              <a:rPr lang="en-US" sz="2200"/>
              <a:t>Presence of lower rated content</a:t>
            </a:r>
          </a:p>
          <a:p>
            <a:r>
              <a:rPr lang="en-US" sz="2200"/>
              <a:t>High volume leads to variability</a:t>
            </a:r>
          </a:p>
          <a:p>
            <a:pPr marL="0" indent="0">
              <a:buNone/>
            </a:pPr>
            <a:r>
              <a:rPr lang="en-US" sz="2200"/>
              <a:t>Takeaway: Scale leads to inconsistent quality perception.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10BCA-5DB4-BF77-7564-B6F3E102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56" r="12507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6355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F80A4-E46F-0C41-5A26-A4195B8F1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SWOT Summary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3BE67-F294-54FB-9FD5-BAEA9E8C3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500" dirty="0"/>
              <a:t>Netflix shows strong scale but quality risks.</a:t>
            </a:r>
          </a:p>
          <a:p>
            <a:r>
              <a:rPr lang="en-US" sz="1500" b="1" dirty="0"/>
              <a:t>Strengths:</a:t>
            </a:r>
            <a:r>
              <a:rPr lang="en-US" sz="1500" dirty="0"/>
              <a:t> Netflix has a large, diverse catalog with mostly modern content and steady mid-to-high quality ratings.</a:t>
            </a:r>
          </a:p>
          <a:p>
            <a:r>
              <a:rPr lang="en-US" sz="1500" b="1" dirty="0"/>
              <a:t>Weaknesses:</a:t>
            </a:r>
            <a:r>
              <a:rPr lang="en-US" sz="1500" dirty="0"/>
              <a:t> It focuses heavily on volume, which may reduce exclusivity and premium perception.</a:t>
            </a:r>
          </a:p>
          <a:p>
            <a:r>
              <a:rPr lang="en-US" sz="1500" b="1" dirty="0"/>
              <a:t>Opportunities:</a:t>
            </a:r>
            <a:r>
              <a:rPr lang="en-US" sz="1500" dirty="0"/>
              <a:t> Netflix can invest more in high-rated prestige content and expand successful genres globally.</a:t>
            </a:r>
          </a:p>
          <a:p>
            <a:r>
              <a:rPr lang="en-US" sz="1500" b="1" dirty="0"/>
              <a:t>Threats:</a:t>
            </a:r>
            <a:r>
              <a:rPr lang="en-US" sz="1500" dirty="0"/>
              <a:t> Strong competition and rising production costs could challenge its growth and differentiation.</a:t>
            </a:r>
          </a:p>
          <a:p>
            <a:pPr marL="0" indent="0">
              <a:buNone/>
            </a:pPr>
            <a:endParaRPr lang="en-US" sz="1500" dirty="0"/>
          </a:p>
        </p:txBody>
      </p:sp>
      <p:pic>
        <p:nvPicPr>
          <p:cNvPr id="4098" name="Picture 2" descr="Netflix SWOT 2025 | SWOT Analysis of Netflix | Business Strategy Hub">
            <a:extLst>
              <a:ext uri="{FF2B5EF4-FFF2-40B4-BE49-F238E27FC236}">
                <a16:creationId xmlns:a16="http://schemas.microsoft.com/office/drawing/2014/main" id="{219A21EE-7C19-8281-4E7E-9ACBCD34B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699516"/>
            <a:ext cx="5458968" cy="545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1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85BCD-1F0E-C759-AF78-87F1CBD2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Strategic Recommendation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E4A18-1E3C-6B2A-3ACA-F49FF1C69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Shift from high volume to high impact content.</a:t>
            </a:r>
          </a:p>
          <a:p>
            <a:r>
              <a:rPr lang="en-US" sz="2000" dirty="0"/>
              <a:t>Invest in niche and international content</a:t>
            </a:r>
          </a:p>
          <a:p>
            <a:r>
              <a:rPr lang="en-US" sz="2000" dirty="0"/>
              <a:t>Increase focus on high-quality productions</a:t>
            </a:r>
          </a:p>
          <a:p>
            <a:r>
              <a:rPr lang="en-US" sz="2000" dirty="0"/>
              <a:t>Improve recommendation system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Takeaway: Balance quantity with quality.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50312F-D363-0BC1-9D1C-4B72DF487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666452"/>
              </p:ext>
            </p:extLst>
          </p:nvPr>
        </p:nvGraphicFramePr>
        <p:xfrm>
          <a:off x="6099048" y="1651174"/>
          <a:ext cx="5458969" cy="3555654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841360">
                  <a:extLst>
                    <a:ext uri="{9D8B030D-6E8A-4147-A177-3AD203B41FA5}">
                      <a16:colId xmlns:a16="http://schemas.microsoft.com/office/drawing/2014/main" val="3577032438"/>
                    </a:ext>
                  </a:extLst>
                </a:gridCol>
                <a:gridCol w="2617609">
                  <a:extLst>
                    <a:ext uri="{9D8B030D-6E8A-4147-A177-3AD203B41FA5}">
                      <a16:colId xmlns:a16="http://schemas.microsoft.com/office/drawing/2014/main" val="3052181157"/>
                    </a:ext>
                  </a:extLst>
                </a:gridCol>
              </a:tblGrid>
              <a:tr h="648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bg1"/>
                          </a:solidFill>
                        </a:rPr>
                        <a:t>Recommendation</a:t>
                      </a:r>
                    </a:p>
                  </a:txBody>
                  <a:tcPr marL="178240" marR="137107" marT="137107" marB="13710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bg1"/>
                          </a:solidFill>
                        </a:rPr>
                        <a:t>Metric Impact</a:t>
                      </a:r>
                    </a:p>
                  </a:txBody>
                  <a:tcPr marL="178240" marR="137107" marT="137107" marB="1371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729490"/>
                  </a:ext>
                </a:extLst>
              </a:tr>
              <a:tr h="96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bg1"/>
                          </a:solidFill>
                        </a:rPr>
                        <a:t>Niche content</a:t>
                      </a:r>
                    </a:p>
                  </a:txBody>
                  <a:tcPr marL="178240" marR="137107" marT="137107" marB="13710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bg1"/>
                          </a:solidFill>
                        </a:rPr>
                        <a:t>Increase subscribers</a:t>
                      </a:r>
                    </a:p>
                  </a:txBody>
                  <a:tcPr marL="178240" marR="137107" marT="137107" marB="1371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79785"/>
                  </a:ext>
                </a:extLst>
              </a:tr>
              <a:tr h="96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bg1"/>
                          </a:solidFill>
                        </a:rPr>
                        <a:t>Better recommendations</a:t>
                      </a:r>
                    </a:p>
                  </a:txBody>
                  <a:tcPr marL="178240" marR="137107" marT="137107" marB="13710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bg1"/>
                          </a:solidFill>
                        </a:rPr>
                        <a:t>Increase retention</a:t>
                      </a:r>
                    </a:p>
                  </a:txBody>
                  <a:tcPr marL="178240" marR="137107" marT="137107" marB="1371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268"/>
                  </a:ext>
                </a:extLst>
              </a:tr>
              <a:tr h="96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bg1"/>
                          </a:solidFill>
                        </a:rPr>
                        <a:t>High-quality content</a:t>
                      </a:r>
                    </a:p>
                  </a:txBody>
                  <a:tcPr marL="178240" marR="137107" marT="137107" marB="13710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bg1"/>
                          </a:solidFill>
                        </a:rPr>
                        <a:t>Increase engagement</a:t>
                      </a:r>
                    </a:p>
                  </a:txBody>
                  <a:tcPr marL="178240" marR="137107" marT="137107" marB="1371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049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8314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FF0753-EC1C-3B07-2A83-56151AB7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Impact Logic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35CD7-01DD-5828-5DC1-F54D6D503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700" b="1"/>
              <a:t>Strategy</a:t>
            </a:r>
            <a:r>
              <a:rPr lang="en-US" sz="1700"/>
              <a:t>: Invest in niche and international content.</a:t>
            </a:r>
          </a:p>
          <a:p>
            <a:pPr marL="0"/>
            <a:r>
              <a:rPr lang="en-US" sz="1700"/>
              <a:t>More diverse and localized content</a:t>
            </a:r>
            <a:br>
              <a:rPr lang="en-US" sz="1700"/>
            </a:br>
            <a:r>
              <a:rPr lang="en-US" sz="1700"/>
              <a:t>↓</a:t>
            </a:r>
            <a:br>
              <a:rPr lang="en-US" sz="1700"/>
            </a:br>
            <a:r>
              <a:rPr lang="en-US" sz="1700"/>
              <a:t>Attract new audience segments globally</a:t>
            </a:r>
            <a:br>
              <a:rPr lang="en-US" sz="1700"/>
            </a:br>
            <a:r>
              <a:rPr lang="en-US" sz="1700"/>
              <a:t>↓</a:t>
            </a:r>
            <a:br>
              <a:rPr lang="en-US" sz="1700"/>
            </a:br>
            <a:r>
              <a:rPr lang="en-US" sz="1700"/>
              <a:t>Increase total subscribers</a:t>
            </a:r>
            <a:br>
              <a:rPr lang="en-US" sz="1700"/>
            </a:br>
            <a:r>
              <a:rPr lang="en-US" sz="1700"/>
              <a:t>↓</a:t>
            </a:r>
            <a:br>
              <a:rPr lang="en-US" sz="1700"/>
            </a:br>
            <a:r>
              <a:rPr lang="en-US" sz="1700"/>
              <a:t>Expand user base</a:t>
            </a:r>
            <a:br>
              <a:rPr lang="en-US" sz="1700"/>
            </a:br>
            <a:r>
              <a:rPr lang="en-US" sz="1700"/>
              <a:t>↓</a:t>
            </a:r>
            <a:br>
              <a:rPr lang="en-US" sz="1700"/>
            </a:br>
            <a:r>
              <a:rPr lang="en-US" sz="1700"/>
              <a:t>Higher revenue</a:t>
            </a:r>
          </a:p>
          <a:p>
            <a:pPr marL="0"/>
            <a:r>
              <a:rPr lang="en-US" sz="1700"/>
              <a:t>Takeaway: Content diversification directly drives subscriber growth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EBDDC0E-1A81-7F64-FBC3-E98DAA007841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Strategy:</a:t>
            </a:r>
            <a:r>
              <a:rPr lang="en-US" sz="1600"/>
              <a:t> Improve recommendation algorithm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Better content personalization</a:t>
            </a:r>
            <a:br>
              <a:rPr lang="en-US" sz="1600"/>
            </a:br>
            <a:r>
              <a:rPr lang="en-US" sz="1600"/>
              <a:t>↓</a:t>
            </a:r>
            <a:br>
              <a:rPr lang="en-US" sz="1600"/>
            </a:br>
            <a:r>
              <a:rPr lang="en-US" sz="1600"/>
              <a:t>Users find relevant content faster</a:t>
            </a:r>
            <a:br>
              <a:rPr lang="en-US" sz="1600"/>
            </a:br>
            <a:r>
              <a:rPr lang="en-US" sz="1600"/>
              <a:t>↓</a:t>
            </a:r>
            <a:br>
              <a:rPr lang="en-US" sz="1600"/>
            </a:br>
            <a:r>
              <a:rPr lang="en-US" sz="1600"/>
              <a:t>Increased content consumption</a:t>
            </a:r>
            <a:br>
              <a:rPr lang="en-US" sz="1600"/>
            </a:br>
            <a:r>
              <a:rPr lang="en-US" sz="1600"/>
              <a:t>↓</a:t>
            </a:r>
            <a:br>
              <a:rPr lang="en-US" sz="1600"/>
            </a:br>
            <a:r>
              <a:rPr lang="en-US" sz="1600"/>
              <a:t>Higher user satisfaction</a:t>
            </a:r>
            <a:br>
              <a:rPr lang="en-US" sz="1600"/>
            </a:br>
            <a:r>
              <a:rPr lang="en-US" sz="1600"/>
              <a:t>↓</a:t>
            </a:r>
            <a:br>
              <a:rPr lang="en-US" sz="1600"/>
            </a:br>
            <a:r>
              <a:rPr lang="en-US" sz="1600"/>
              <a:t>Lower churn rate</a:t>
            </a:r>
            <a:br>
              <a:rPr lang="en-US" sz="1600"/>
            </a:br>
            <a:r>
              <a:rPr lang="en-US" sz="1600"/>
              <a:t>↓</a:t>
            </a:r>
            <a:br>
              <a:rPr lang="en-US" sz="1600"/>
            </a:br>
            <a:r>
              <a:rPr lang="en-US" sz="1600"/>
              <a:t>Higher retention rate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Takeaway: Personalization improves engagement and retention</a:t>
            </a:r>
          </a:p>
        </p:txBody>
      </p:sp>
    </p:spTree>
    <p:extLst>
      <p:ext uri="{BB962C8B-B14F-4D97-AF65-F5344CB8AC3E}">
        <p14:creationId xmlns:p14="http://schemas.microsoft.com/office/powerpoint/2010/main" val="97370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476F-5F1C-A5C4-83A0-C4BBFF2C4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3104606" cy="1956841"/>
          </a:xfrm>
        </p:spPr>
        <p:txBody>
          <a:bodyPr anchor="b">
            <a:normAutofit/>
          </a:bodyPr>
          <a:lstStyle/>
          <a:p>
            <a:r>
              <a:rPr lang="en-US" sz="3200" dirty="0"/>
              <a:t>Expected Impact (Subscriber Growth)</a:t>
            </a:r>
          </a:p>
        </p:txBody>
      </p:sp>
      <p:sp>
        <p:nvSpPr>
          <p:cNvPr id="616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Content Placeholder 2">
            <a:extLst>
              <a:ext uri="{FF2B5EF4-FFF2-40B4-BE49-F238E27FC236}">
                <a16:creationId xmlns:a16="http://schemas.microsoft.com/office/drawing/2014/main" id="{151A8918-9D53-FAEE-BEEA-33A638279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2596138"/>
            <a:ext cx="8066314" cy="373461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Real Data: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Subscribers 277 Million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Source: </a:t>
            </a:r>
            <a:r>
              <a:rPr lang="en-US" sz="1400" dirty="0">
                <a:hlinkClick r:id="rId2"/>
              </a:rPr>
              <a:t>Netflix Revenue and Usage Statistics (2026) - Business of Apps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Assumption: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5% growth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Calculation: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277M * 1.05 = 291M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+ 14M users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Revenue: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Avg revenue = $11.7/Month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Annual = $140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Impact: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14M * $140 = $1.96B increase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Takeaway: Small growth, Billions in revenue.</a:t>
            </a:r>
          </a:p>
        </p:txBody>
      </p:sp>
      <p:pic>
        <p:nvPicPr>
          <p:cNvPr id="6150" name="Picture 6" descr="Chart: Netflix Added 22M Subs in 2024 So Far, the Most Since 2020 ...">
            <a:extLst>
              <a:ext uri="{FF2B5EF4-FFF2-40B4-BE49-F238E27FC236}">
                <a16:creationId xmlns:a16="http://schemas.microsoft.com/office/drawing/2014/main" id="{0C61926F-272E-F195-9162-60E5B6A38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" t="-6223" r="44" b="17737"/>
          <a:stretch>
            <a:fillRect/>
          </a:stretch>
        </p:blipFill>
        <p:spPr bwMode="auto">
          <a:xfrm>
            <a:off x="7097485" y="1484375"/>
            <a:ext cx="4930331" cy="4508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10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FD05E-5B0F-D965-1325-34F40EC2B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/>
              <a:t>Expected Impact(Retention)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11498-8C5B-67CE-4AE7-93111A0F5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/>
              <a:t>Real Data:</a:t>
            </a:r>
          </a:p>
          <a:p>
            <a:pPr lvl="1"/>
            <a:r>
              <a:rPr lang="en-US" sz="1900"/>
              <a:t>Subscribers: 277M</a:t>
            </a:r>
          </a:p>
          <a:p>
            <a:pPr lvl="1"/>
            <a:r>
              <a:rPr lang="en-US" sz="1900"/>
              <a:t>Churn: 20% = 55M Users leaving</a:t>
            </a:r>
          </a:p>
          <a:p>
            <a:pPr marL="0" indent="0">
              <a:buNone/>
            </a:pPr>
            <a:r>
              <a:rPr lang="en-US" sz="1900"/>
              <a:t>Improved Scenario:</a:t>
            </a:r>
          </a:p>
          <a:p>
            <a:pPr lvl="1"/>
            <a:r>
              <a:rPr lang="en-US" sz="1900"/>
              <a:t>Retention: 80% to 85%</a:t>
            </a:r>
          </a:p>
          <a:p>
            <a:pPr lvl="1"/>
            <a:r>
              <a:rPr lang="en-US" sz="1900"/>
              <a:t>New Churn: 15% = 41M</a:t>
            </a:r>
          </a:p>
          <a:p>
            <a:pPr marL="0" indent="0">
              <a:buNone/>
            </a:pPr>
            <a:r>
              <a:rPr lang="en-US" sz="1900"/>
              <a:t>Users Saved: 14M</a:t>
            </a:r>
          </a:p>
          <a:p>
            <a:pPr marL="0" indent="0">
              <a:buNone/>
            </a:pPr>
            <a:r>
              <a:rPr lang="en-US" sz="1900"/>
              <a:t>Revenue Impact: 14M * $140 = $1.96B retained</a:t>
            </a:r>
          </a:p>
          <a:p>
            <a:pPr marL="0" indent="0">
              <a:buNone/>
            </a:pPr>
            <a:r>
              <a:rPr lang="en-US" sz="1900"/>
              <a:t>Takeaway: Retention is a high ROI strategy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ACC8E-1FAA-8ADB-B86C-EEE847677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231766"/>
            <a:ext cx="5458968" cy="4394468"/>
          </a:xfrm>
          <a:prstGeom prst="rect">
            <a:avLst/>
          </a:prstGeom>
        </p:spPr>
      </p:pic>
      <p:sp>
        <p:nvSpPr>
          <p:cNvPr id="6" name="AutoShape 8" descr="Image result for retention to revenue flow diagam for netflix">
            <a:extLst>
              <a:ext uri="{FF2B5EF4-FFF2-40B4-BE49-F238E27FC236}">
                <a16:creationId xmlns:a16="http://schemas.microsoft.com/office/drawing/2014/main" id="{7D68A906-EFBA-22CE-ACE8-CD4EF9FF4B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37513" y="261257"/>
            <a:ext cx="3167743" cy="316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4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2C70EA-0FAB-380C-50A8-917DE95F2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820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6C20-D011-810D-E8ED-BC3E836A1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Netflix’s strategy is strong but needs refinement.</a:t>
            </a:r>
          </a:p>
          <a:p>
            <a:r>
              <a:rPr lang="en-US" sz="2200" dirty="0"/>
              <a:t>Strong in scale and diversity</a:t>
            </a:r>
          </a:p>
          <a:p>
            <a:r>
              <a:rPr lang="en-US" sz="2200" dirty="0"/>
              <a:t>Needs better quality and differentiation</a:t>
            </a:r>
          </a:p>
          <a:p>
            <a:r>
              <a:rPr lang="en-US" sz="2200" dirty="0"/>
              <a:t>Strategic investment can improve long term growth</a:t>
            </a:r>
          </a:p>
          <a:p>
            <a:pPr marL="0" indent="0">
              <a:buNone/>
            </a:pPr>
            <a:r>
              <a:rPr lang="en-US" sz="2200" dirty="0"/>
              <a:t>Final Takeaway: Balancing volume + quality = sustainable advantage</a:t>
            </a:r>
          </a:p>
        </p:txBody>
      </p:sp>
      <p:pic>
        <p:nvPicPr>
          <p:cNvPr id="8194" name="Picture 2" descr="Netflix's Strategic Roadmap and Global Expansion Insights from Co-CEO ...">
            <a:extLst>
              <a:ext uri="{FF2B5EF4-FFF2-40B4-BE49-F238E27FC236}">
                <a16:creationId xmlns:a16="http://schemas.microsoft.com/office/drawing/2014/main" id="{46AAD154-24CB-E96D-9A52-4F9849698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893665"/>
            <a:ext cx="5458968" cy="307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888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5628</TotalTime>
  <Words>654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Streaming Platform Strategy Analysis</vt:lpstr>
      <vt:lpstr>The Streaming Industry Operates in a Content-Driven, Hyper-Competitive Landscape </vt:lpstr>
      <vt:lpstr>Platform Analysis: Netflix </vt:lpstr>
      <vt:lpstr>Key Insight 1</vt:lpstr>
      <vt:lpstr>Key Insight 2</vt:lpstr>
      <vt:lpstr>Key Insight 3</vt:lpstr>
      <vt:lpstr>Key Insight 4</vt:lpstr>
      <vt:lpstr>SWOT Summary</vt:lpstr>
      <vt:lpstr>Strategic Recommendation</vt:lpstr>
      <vt:lpstr>Impact Logic Mapping</vt:lpstr>
      <vt:lpstr>Expected Impact (Subscriber Growth)</vt:lpstr>
      <vt:lpstr>Expected Impact(Retention)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Thrisha Jawahar</dc:creator>
  <cp:lastModifiedBy>Thrisha Jawahar</cp:lastModifiedBy>
  <cp:revision>3</cp:revision>
  <dcterms:created xsi:type="dcterms:W3CDTF">2026-03-19T19:46:57Z</dcterms:created>
  <dcterms:modified xsi:type="dcterms:W3CDTF">2026-03-23T17:36:34Z</dcterms:modified>
</cp:coreProperties>
</file>